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50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1" i="0">
                <a:solidFill>
                  <a:srgbClr val="F1F5F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EBECF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F1F5F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EBECF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F1F5F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F1F5F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F1620">
              <a:alpha val="9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7308" y="437455"/>
            <a:ext cx="16753382" cy="16027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1" i="0">
                <a:solidFill>
                  <a:srgbClr val="F1F5F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0559" y="3591464"/>
            <a:ext cx="8258809" cy="5381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EBECF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47038" y="0"/>
            <a:ext cx="8641080" cy="10286365"/>
            <a:chOff x="9647038" y="0"/>
            <a:chExt cx="8641080" cy="10286365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19" y="9686925"/>
              <a:ext cx="2153221" cy="5143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7038" y="0"/>
              <a:ext cx="8640961" cy="1028624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30559" y="832296"/>
            <a:ext cx="7668259" cy="23399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8900"/>
              </a:lnSpc>
              <a:spcBef>
                <a:spcPts val="90"/>
              </a:spcBef>
            </a:pPr>
            <a:r>
              <a:rPr sz="4650" dirty="0"/>
              <a:t>Particle</a:t>
            </a:r>
            <a:r>
              <a:rPr sz="4650" spc="10" dirty="0"/>
              <a:t> </a:t>
            </a:r>
            <a:r>
              <a:rPr sz="4650" dirty="0"/>
              <a:t>System</a:t>
            </a:r>
            <a:r>
              <a:rPr sz="4650" spc="10" dirty="0"/>
              <a:t> </a:t>
            </a:r>
            <a:r>
              <a:rPr sz="4650" spc="-10" dirty="0"/>
              <a:t>Simulation </a:t>
            </a:r>
            <a:r>
              <a:rPr sz="4650" dirty="0"/>
              <a:t>Mini-Project:</a:t>
            </a:r>
            <a:r>
              <a:rPr sz="4650" spc="10" dirty="0"/>
              <a:t> </a:t>
            </a:r>
            <a:r>
              <a:rPr sz="4650" dirty="0"/>
              <a:t>The</a:t>
            </a:r>
            <a:r>
              <a:rPr sz="4650" spc="10" dirty="0"/>
              <a:t> </a:t>
            </a:r>
            <a:r>
              <a:rPr sz="4650" spc="-10" dirty="0"/>
              <a:t>Jackfruit Problem</a:t>
            </a:r>
            <a:endParaRPr sz="4650"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6134" y="6654184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6134" y="7129989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6134" y="7605792"/>
            <a:ext cx="104775" cy="10477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6540">
              <a:lnSpc>
                <a:spcPct val="108700"/>
              </a:lnSpc>
              <a:spcBef>
                <a:spcPts val="95"/>
              </a:spcBef>
            </a:pPr>
            <a:r>
              <a:rPr b="1" dirty="0">
                <a:latin typeface="Arial"/>
                <a:cs typeface="Arial"/>
              </a:rPr>
              <a:t>Problem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Statement: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dirty="0"/>
              <a:t>develop</a:t>
            </a:r>
            <a:r>
              <a:rPr spc="15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spc="-10" dirty="0"/>
              <a:t>console-</a:t>
            </a:r>
            <a:r>
              <a:rPr dirty="0"/>
              <a:t>based</a:t>
            </a:r>
            <a:r>
              <a:rPr spc="10" dirty="0"/>
              <a:t> </a:t>
            </a:r>
            <a:r>
              <a:rPr spc="-10" dirty="0"/>
              <a:t>particle </a:t>
            </a:r>
            <a:r>
              <a:rPr dirty="0"/>
              <a:t>system</a:t>
            </a:r>
            <a:r>
              <a:rPr spc="-10" dirty="0"/>
              <a:t> </a:t>
            </a:r>
            <a:r>
              <a:rPr dirty="0"/>
              <a:t>simulation</a:t>
            </a:r>
            <a:r>
              <a:rPr spc="-5" dirty="0"/>
              <a:t> </a:t>
            </a:r>
            <a:r>
              <a:rPr dirty="0"/>
              <a:t>that</a:t>
            </a:r>
            <a:r>
              <a:rPr spc="-5" dirty="0"/>
              <a:t> </a:t>
            </a:r>
            <a:r>
              <a:rPr dirty="0"/>
              <a:t>manages</a:t>
            </a:r>
            <a:r>
              <a:rPr spc="-10" dirty="0"/>
              <a:t> </a:t>
            </a:r>
            <a:r>
              <a:rPr dirty="0"/>
              <a:t>dynamic</a:t>
            </a:r>
            <a:r>
              <a:rPr spc="-5" dirty="0"/>
              <a:t> </a:t>
            </a:r>
            <a:r>
              <a:rPr dirty="0"/>
              <a:t>particles</a:t>
            </a:r>
            <a:r>
              <a:rPr spc="-5" dirty="0"/>
              <a:t> </a:t>
            </a:r>
            <a:r>
              <a:rPr dirty="0"/>
              <a:t>using</a:t>
            </a:r>
            <a:r>
              <a:rPr spc="-10" dirty="0"/>
              <a:t> </a:t>
            </a:r>
            <a:r>
              <a:rPr spc="-50" dirty="0"/>
              <a:t>a </a:t>
            </a:r>
            <a:r>
              <a:rPr dirty="0"/>
              <a:t>Doubly Linked List</a:t>
            </a:r>
            <a:r>
              <a:rPr spc="5" dirty="0"/>
              <a:t> </a:t>
            </a:r>
            <a:r>
              <a:rPr dirty="0"/>
              <a:t>and implements an</a:t>
            </a:r>
            <a:r>
              <a:rPr spc="5" dirty="0"/>
              <a:t> </a:t>
            </a:r>
            <a:r>
              <a:rPr dirty="0"/>
              <a:t>ordered Binary</a:t>
            </a:r>
            <a:r>
              <a:rPr spc="5" dirty="0"/>
              <a:t> </a:t>
            </a:r>
            <a:r>
              <a:rPr spc="-10" dirty="0"/>
              <a:t>Search </a:t>
            </a:r>
            <a:r>
              <a:rPr dirty="0"/>
              <a:t>Tree</a:t>
            </a:r>
            <a:r>
              <a:rPr spc="5" dirty="0"/>
              <a:t> </a:t>
            </a:r>
            <a:r>
              <a:rPr dirty="0"/>
              <a:t>(BST)</a:t>
            </a:r>
            <a:r>
              <a:rPr spc="10" dirty="0"/>
              <a:t> </a:t>
            </a:r>
            <a:r>
              <a:rPr dirty="0"/>
              <a:t>for</a:t>
            </a:r>
            <a:r>
              <a:rPr spc="10" dirty="0"/>
              <a:t> </a:t>
            </a:r>
            <a:r>
              <a:rPr dirty="0"/>
              <a:t>rendering</a:t>
            </a:r>
            <a:r>
              <a:rPr spc="5" dirty="0"/>
              <a:t> </a:t>
            </a:r>
            <a:r>
              <a:rPr dirty="0"/>
              <a:t>particles</a:t>
            </a:r>
            <a:r>
              <a:rPr spc="10" dirty="0"/>
              <a:t> </a:t>
            </a:r>
            <a:r>
              <a:rPr dirty="0"/>
              <a:t>based</a:t>
            </a:r>
            <a:r>
              <a:rPr spc="10" dirty="0"/>
              <a:t> </a:t>
            </a:r>
            <a:r>
              <a:rPr dirty="0"/>
              <a:t>on</a:t>
            </a:r>
            <a:r>
              <a:rPr spc="5" dirty="0"/>
              <a:t> </a:t>
            </a:r>
            <a:r>
              <a:rPr dirty="0"/>
              <a:t>their</a:t>
            </a:r>
            <a:r>
              <a:rPr spc="10" dirty="0"/>
              <a:t> </a:t>
            </a:r>
            <a:r>
              <a:rPr spc="-10" dirty="0"/>
              <a:t>lifetime </a:t>
            </a:r>
            <a:r>
              <a:rPr dirty="0"/>
              <a:t>(sorting)</a:t>
            </a:r>
            <a:r>
              <a:rPr spc="-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enabling</a:t>
            </a:r>
            <a:r>
              <a:rPr spc="-5" dirty="0"/>
              <a:t> </a:t>
            </a:r>
            <a:r>
              <a:rPr dirty="0"/>
              <a:t>efficient</a:t>
            </a:r>
            <a:r>
              <a:rPr spc="-5" dirty="0"/>
              <a:t> </a:t>
            </a:r>
            <a:r>
              <a:rPr dirty="0"/>
              <a:t>memory</a:t>
            </a:r>
            <a:r>
              <a:rPr spc="-5" dirty="0"/>
              <a:t> </a:t>
            </a:r>
            <a:r>
              <a:rPr spc="-10" dirty="0"/>
              <a:t>management.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sz="3400" b="1" dirty="0">
                <a:latin typeface="Arial"/>
                <a:cs typeface="Arial"/>
              </a:rPr>
              <a:t>Team</a:t>
            </a:r>
            <a:r>
              <a:rPr sz="3400" b="1" spc="-55" dirty="0">
                <a:latin typeface="Arial"/>
                <a:cs typeface="Arial"/>
              </a:rPr>
              <a:t> </a:t>
            </a:r>
            <a:r>
              <a:rPr sz="3400" b="1" spc="-10" dirty="0">
                <a:latin typeface="Arial"/>
                <a:cs typeface="Arial"/>
              </a:rPr>
              <a:t>Details:</a:t>
            </a:r>
            <a:endParaRPr sz="3400">
              <a:latin typeface="Arial"/>
              <a:cs typeface="Arial"/>
            </a:endParaRPr>
          </a:p>
          <a:p>
            <a:pPr marL="434340" marR="781050">
              <a:lnSpc>
                <a:spcPct val="111500"/>
              </a:lnSpc>
              <a:spcBef>
                <a:spcPts val="240"/>
              </a:spcBef>
            </a:pPr>
            <a:r>
              <a:rPr sz="2800" b="1" dirty="0">
                <a:latin typeface="Arial"/>
                <a:cs typeface="Arial"/>
              </a:rPr>
              <a:t>Darshan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P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Pawar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(PES2UG24CS143) </a:t>
            </a:r>
            <a:r>
              <a:rPr sz="2800" b="1" dirty="0">
                <a:latin typeface="Arial"/>
                <a:cs typeface="Arial"/>
              </a:rPr>
              <a:t>Ganavi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Purushothama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(PES2UG24CS167) </a:t>
            </a:r>
            <a:r>
              <a:rPr sz="2800" b="1" dirty="0">
                <a:latin typeface="Arial"/>
                <a:cs typeface="Arial"/>
              </a:rPr>
              <a:t>Deepthi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Reddy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(PES2UG24CS149)</a:t>
            </a:r>
            <a:endParaRPr sz="2800">
              <a:latin typeface="Arial"/>
              <a:cs typeface="Arial"/>
            </a:endParaRPr>
          </a:p>
          <a:p>
            <a:pPr marL="12700" marR="5080" algn="just">
              <a:lnSpc>
                <a:spcPct val="108100"/>
              </a:lnSpc>
              <a:spcBef>
                <a:spcPts val="1700"/>
              </a:spcBef>
            </a:pPr>
            <a:r>
              <a:rPr sz="1850" dirty="0"/>
              <a:t>A</a:t>
            </a:r>
            <a:r>
              <a:rPr sz="1850" spc="65" dirty="0"/>
              <a:t> </a:t>
            </a:r>
            <a:r>
              <a:rPr sz="1850" dirty="0"/>
              <a:t>particle</a:t>
            </a:r>
            <a:r>
              <a:rPr sz="1850" spc="70" dirty="0"/>
              <a:t> </a:t>
            </a:r>
            <a:r>
              <a:rPr sz="1850" dirty="0"/>
              <a:t>system</a:t>
            </a:r>
            <a:r>
              <a:rPr sz="1850" spc="65" dirty="0"/>
              <a:t> </a:t>
            </a:r>
            <a:r>
              <a:rPr sz="1850" dirty="0"/>
              <a:t>is</a:t>
            </a:r>
            <a:r>
              <a:rPr sz="1850" spc="70" dirty="0"/>
              <a:t> </a:t>
            </a:r>
            <a:r>
              <a:rPr sz="1850" dirty="0"/>
              <a:t>a</a:t>
            </a:r>
            <a:r>
              <a:rPr sz="1850" spc="65" dirty="0"/>
              <a:t> </a:t>
            </a:r>
            <a:r>
              <a:rPr sz="1850" dirty="0"/>
              <a:t>graphics</a:t>
            </a:r>
            <a:r>
              <a:rPr sz="1850" spc="70" dirty="0"/>
              <a:t> </a:t>
            </a:r>
            <a:r>
              <a:rPr sz="1850" dirty="0"/>
              <a:t>technique</a:t>
            </a:r>
            <a:r>
              <a:rPr sz="1850" spc="70" dirty="0"/>
              <a:t> </a:t>
            </a:r>
            <a:r>
              <a:rPr sz="1850" dirty="0"/>
              <a:t>used</a:t>
            </a:r>
            <a:r>
              <a:rPr sz="1850" spc="65" dirty="0"/>
              <a:t> </a:t>
            </a:r>
            <a:r>
              <a:rPr sz="1850" dirty="0"/>
              <a:t>to</a:t>
            </a:r>
            <a:r>
              <a:rPr sz="1850" spc="70" dirty="0"/>
              <a:t> </a:t>
            </a:r>
            <a:r>
              <a:rPr sz="1850" dirty="0"/>
              <a:t>simulate</a:t>
            </a:r>
            <a:r>
              <a:rPr sz="1850" spc="65" dirty="0"/>
              <a:t> </a:t>
            </a:r>
            <a:r>
              <a:rPr sz="1850" dirty="0"/>
              <a:t>natural</a:t>
            </a:r>
            <a:r>
              <a:rPr sz="1850" spc="70" dirty="0"/>
              <a:t> </a:t>
            </a:r>
            <a:r>
              <a:rPr sz="1850" spc="-10" dirty="0"/>
              <a:t>phenomena </a:t>
            </a:r>
            <a:r>
              <a:rPr sz="1850" dirty="0"/>
              <a:t>like</a:t>
            </a:r>
            <a:r>
              <a:rPr sz="1850" spc="60" dirty="0"/>
              <a:t> </a:t>
            </a:r>
            <a:r>
              <a:rPr sz="1850" dirty="0"/>
              <a:t>fire,</a:t>
            </a:r>
            <a:r>
              <a:rPr sz="1850" spc="65" dirty="0"/>
              <a:t> </a:t>
            </a:r>
            <a:r>
              <a:rPr sz="1850" dirty="0"/>
              <a:t>smoke,</a:t>
            </a:r>
            <a:r>
              <a:rPr sz="1850" spc="60" dirty="0"/>
              <a:t> </a:t>
            </a:r>
            <a:r>
              <a:rPr sz="1850" dirty="0"/>
              <a:t>or</a:t>
            </a:r>
            <a:r>
              <a:rPr sz="1850" spc="65" dirty="0"/>
              <a:t> </a:t>
            </a:r>
            <a:r>
              <a:rPr sz="1850" dirty="0"/>
              <a:t>rain.</a:t>
            </a:r>
            <a:r>
              <a:rPr sz="1850" spc="60" dirty="0"/>
              <a:t> </a:t>
            </a:r>
            <a:r>
              <a:rPr sz="1850" dirty="0"/>
              <a:t>Our</a:t>
            </a:r>
            <a:r>
              <a:rPr sz="1850" spc="65" dirty="0"/>
              <a:t> </a:t>
            </a:r>
            <a:r>
              <a:rPr sz="1850" dirty="0"/>
              <a:t>project</a:t>
            </a:r>
            <a:r>
              <a:rPr sz="1850" spc="60" dirty="0"/>
              <a:t> </a:t>
            </a:r>
            <a:r>
              <a:rPr sz="1850" dirty="0"/>
              <a:t>implements</a:t>
            </a:r>
            <a:r>
              <a:rPr sz="1850" spc="65" dirty="0"/>
              <a:t> </a:t>
            </a:r>
            <a:r>
              <a:rPr sz="1850" dirty="0"/>
              <a:t>its</a:t>
            </a:r>
            <a:r>
              <a:rPr sz="1850" spc="60" dirty="0"/>
              <a:t> </a:t>
            </a:r>
            <a:r>
              <a:rPr sz="1850" dirty="0"/>
              <a:t>core</a:t>
            </a:r>
            <a:r>
              <a:rPr sz="1850" spc="65" dirty="0"/>
              <a:t> </a:t>
            </a:r>
            <a:r>
              <a:rPr sz="1850" dirty="0"/>
              <a:t>mechanics</a:t>
            </a:r>
            <a:r>
              <a:rPr sz="1850" spc="60" dirty="0"/>
              <a:t> </a:t>
            </a:r>
            <a:r>
              <a:rPr sz="1850" spc="780" dirty="0"/>
              <a:t>—</a:t>
            </a:r>
            <a:r>
              <a:rPr sz="1850" spc="65" dirty="0"/>
              <a:t> </a:t>
            </a:r>
            <a:r>
              <a:rPr sz="1850" spc="-10" dirty="0"/>
              <a:t>adding, </a:t>
            </a:r>
            <a:r>
              <a:rPr sz="1850" dirty="0"/>
              <a:t>deleting,</a:t>
            </a:r>
            <a:r>
              <a:rPr sz="1850" spc="70" dirty="0"/>
              <a:t> </a:t>
            </a:r>
            <a:r>
              <a:rPr sz="1850" dirty="0"/>
              <a:t>updating,</a:t>
            </a:r>
            <a:r>
              <a:rPr sz="1850" spc="75" dirty="0"/>
              <a:t> </a:t>
            </a:r>
            <a:r>
              <a:rPr sz="1850" dirty="0"/>
              <a:t>and</a:t>
            </a:r>
            <a:r>
              <a:rPr sz="1850" spc="70" dirty="0"/>
              <a:t> </a:t>
            </a:r>
            <a:r>
              <a:rPr sz="1850" dirty="0"/>
              <a:t>rendering</a:t>
            </a:r>
            <a:r>
              <a:rPr sz="1850" spc="75" dirty="0"/>
              <a:t> </a:t>
            </a:r>
            <a:r>
              <a:rPr sz="1850" spc="780" dirty="0"/>
              <a:t>—</a:t>
            </a:r>
            <a:r>
              <a:rPr sz="1850" spc="70" dirty="0"/>
              <a:t> </a:t>
            </a:r>
            <a:r>
              <a:rPr sz="1850" dirty="0"/>
              <a:t>using</a:t>
            </a:r>
            <a:r>
              <a:rPr sz="1850" spc="75" dirty="0"/>
              <a:t> </a:t>
            </a:r>
            <a:r>
              <a:rPr sz="1850" dirty="0"/>
              <a:t>optimised</a:t>
            </a:r>
            <a:r>
              <a:rPr sz="1850" spc="70" dirty="0"/>
              <a:t> </a:t>
            </a:r>
            <a:r>
              <a:rPr sz="1850" dirty="0"/>
              <a:t>C</a:t>
            </a:r>
            <a:r>
              <a:rPr sz="1850" spc="75" dirty="0"/>
              <a:t> </a:t>
            </a:r>
            <a:r>
              <a:rPr sz="1850" dirty="0"/>
              <a:t>data</a:t>
            </a:r>
            <a:r>
              <a:rPr sz="1850" spc="75" dirty="0"/>
              <a:t> </a:t>
            </a:r>
            <a:r>
              <a:rPr sz="1850" spc="-10" dirty="0"/>
              <a:t>structures.</a:t>
            </a:r>
            <a:endParaRPr sz="1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0310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105"/>
              </a:spcBef>
            </a:pPr>
            <a:r>
              <a:rPr sz="5550" dirty="0"/>
              <a:t>Data</a:t>
            </a:r>
            <a:r>
              <a:rPr sz="5550" spc="-25" dirty="0"/>
              <a:t> </a:t>
            </a:r>
            <a:r>
              <a:rPr sz="5550" dirty="0"/>
              <a:t>Structures</a:t>
            </a:r>
            <a:r>
              <a:rPr sz="5550" spc="-25" dirty="0"/>
              <a:t> </a:t>
            </a:r>
            <a:r>
              <a:rPr sz="5550" dirty="0"/>
              <a:t>Used</a:t>
            </a:r>
            <a:r>
              <a:rPr sz="5550" spc="-25" dirty="0"/>
              <a:t> </a:t>
            </a:r>
            <a:r>
              <a:rPr sz="5550" dirty="0"/>
              <a:t>and</a:t>
            </a:r>
            <a:r>
              <a:rPr sz="5550" spc="-25" dirty="0"/>
              <a:t> </a:t>
            </a:r>
            <a:r>
              <a:rPr sz="5550" dirty="0"/>
              <a:t>Rationale</a:t>
            </a:r>
            <a:r>
              <a:rPr sz="5550" spc="-25" dirty="0"/>
              <a:t> </a:t>
            </a:r>
            <a:r>
              <a:rPr sz="6100" b="0" spc="-415" dirty="0">
                <a:solidFill>
                  <a:srgbClr val="000000"/>
                </a:solidFill>
                <a:latin typeface="Times New Roman"/>
                <a:cs typeface="Times New Roman"/>
              </a:rPr>
              <a:t>📊</a:t>
            </a:r>
            <a:endParaRPr sz="6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9537" y="2619956"/>
            <a:ext cx="6499860" cy="1791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95"/>
              </a:spcBef>
            </a:pPr>
            <a:r>
              <a:rPr sz="3300" b="1" dirty="0">
                <a:solidFill>
                  <a:srgbClr val="6195FF"/>
                </a:solidFill>
                <a:latin typeface="Arial"/>
                <a:cs typeface="Arial"/>
              </a:rPr>
              <a:t>Primary</a:t>
            </a:r>
            <a:r>
              <a:rPr sz="3300" b="1" spc="-35" dirty="0">
                <a:solidFill>
                  <a:srgbClr val="6195FF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6195FF"/>
                </a:solidFill>
                <a:latin typeface="Arial"/>
                <a:cs typeface="Arial"/>
              </a:rPr>
              <a:t>Data</a:t>
            </a:r>
            <a:r>
              <a:rPr sz="3300" b="1" spc="-20" dirty="0">
                <a:solidFill>
                  <a:srgbClr val="6195FF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6195FF"/>
                </a:solidFill>
                <a:latin typeface="Arial"/>
                <a:cs typeface="Arial"/>
              </a:rPr>
              <a:t>Structure</a:t>
            </a:r>
            <a:r>
              <a:rPr sz="3300" b="1" spc="-20" dirty="0">
                <a:solidFill>
                  <a:srgbClr val="6195FF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6195FF"/>
                </a:solidFill>
                <a:latin typeface="Arial"/>
                <a:cs typeface="Arial"/>
              </a:rPr>
              <a:t>–</a:t>
            </a:r>
            <a:r>
              <a:rPr sz="3300" b="1" spc="-20" dirty="0">
                <a:solidFill>
                  <a:srgbClr val="6195FF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6195FF"/>
                </a:solidFill>
                <a:latin typeface="Arial"/>
                <a:cs typeface="Arial"/>
              </a:rPr>
              <a:t>Doubly </a:t>
            </a:r>
            <a:r>
              <a:rPr sz="3300" b="1" dirty="0">
                <a:solidFill>
                  <a:srgbClr val="6195FF"/>
                </a:solidFill>
                <a:latin typeface="Arial"/>
                <a:cs typeface="Arial"/>
              </a:rPr>
              <a:t>Linked</a:t>
            </a:r>
            <a:r>
              <a:rPr sz="3300" b="1" spc="-30" dirty="0">
                <a:solidFill>
                  <a:srgbClr val="6195FF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6195FF"/>
                </a:solidFill>
                <a:latin typeface="Arial"/>
                <a:cs typeface="Arial"/>
              </a:rPr>
              <a:t>List</a:t>
            </a:r>
            <a:r>
              <a:rPr sz="3300" b="1" spc="-20" dirty="0">
                <a:solidFill>
                  <a:srgbClr val="6195FF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6195FF"/>
                </a:solidFill>
                <a:latin typeface="Arial"/>
                <a:cs typeface="Arial"/>
              </a:rPr>
              <a:t>(DLL)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75"/>
              </a:spcBef>
            </a:pPr>
            <a:r>
              <a:rPr sz="2150" b="1" dirty="0">
                <a:solidFill>
                  <a:srgbClr val="EBECF0"/>
                </a:solidFill>
                <a:latin typeface="Arial"/>
                <a:cs typeface="Arial"/>
              </a:rPr>
              <a:t>Structure</a:t>
            </a:r>
            <a:r>
              <a:rPr sz="2150" b="1" spc="55" dirty="0">
                <a:solidFill>
                  <a:srgbClr val="EBECF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EBECF0"/>
                </a:solidFill>
                <a:latin typeface="Arial"/>
                <a:cs typeface="Arial"/>
              </a:rPr>
              <a:t>Name:</a:t>
            </a:r>
            <a:r>
              <a:rPr sz="2150" b="1" spc="55" dirty="0">
                <a:solidFill>
                  <a:srgbClr val="EBECF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ParticleList</a:t>
            </a:r>
            <a:r>
              <a:rPr sz="2150" spc="8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and</a:t>
            </a:r>
            <a:r>
              <a:rPr sz="2150" spc="7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ParticleCell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9537" y="4676590"/>
            <a:ext cx="582930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b="1" dirty="0">
                <a:solidFill>
                  <a:srgbClr val="EBECF0"/>
                </a:solidFill>
                <a:latin typeface="Arial"/>
                <a:cs typeface="Arial"/>
              </a:rPr>
              <a:t>Purpose:</a:t>
            </a:r>
            <a:r>
              <a:rPr sz="2150" b="1" spc="40" dirty="0">
                <a:solidFill>
                  <a:srgbClr val="EBECF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Manage</a:t>
            </a:r>
            <a:r>
              <a:rPr sz="2150" spc="8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active</a:t>
            </a:r>
            <a:r>
              <a:rPr sz="2150" spc="7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particles</a:t>
            </a:r>
            <a:r>
              <a:rPr sz="2150" spc="8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dynamically.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9537" y="5328605"/>
            <a:ext cx="1751964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b="1" dirty="0">
                <a:solidFill>
                  <a:srgbClr val="F1F5FA"/>
                </a:solidFill>
                <a:latin typeface="Arial"/>
                <a:cs typeface="Arial"/>
              </a:rPr>
              <a:t>Why</a:t>
            </a:r>
            <a:r>
              <a:rPr sz="2750" b="1" spc="-45" dirty="0">
                <a:solidFill>
                  <a:srgbClr val="F1F5FA"/>
                </a:solidFill>
                <a:latin typeface="Arial"/>
                <a:cs typeface="Arial"/>
              </a:rPr>
              <a:t> </a:t>
            </a:r>
            <a:r>
              <a:rPr sz="2750" b="1" spc="-20" dirty="0">
                <a:solidFill>
                  <a:srgbClr val="F1F5FA"/>
                </a:solidFill>
                <a:latin typeface="Arial"/>
                <a:cs typeface="Arial"/>
              </a:rPr>
              <a:t>DLL?</a:t>
            </a:r>
            <a:endParaRPr sz="27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7" y="6248895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7" y="6716513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537" y="7184132"/>
            <a:ext cx="76200" cy="761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09340" y="5938427"/>
            <a:ext cx="6000115" cy="1428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2700"/>
              </a:lnSpc>
              <a:spcBef>
                <a:spcPts val="90"/>
              </a:spcBef>
            </a:pP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Supports</a:t>
            </a:r>
            <a:r>
              <a:rPr sz="2150" spc="8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frequent</a:t>
            </a:r>
            <a:r>
              <a:rPr sz="2150" spc="9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insertions/deletions</a:t>
            </a:r>
            <a:r>
              <a:rPr sz="2150" spc="9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efficiently.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Allows</a:t>
            </a:r>
            <a:r>
              <a:rPr sz="2150" spc="5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O(1)</a:t>
            </a:r>
            <a:r>
              <a:rPr sz="2150" spc="5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deletion</a:t>
            </a:r>
            <a:r>
              <a:rPr sz="2150" spc="6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once</a:t>
            </a:r>
            <a:r>
              <a:rPr sz="2150" spc="5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a</a:t>
            </a:r>
            <a:r>
              <a:rPr sz="2150" spc="6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node</a:t>
            </a:r>
            <a:r>
              <a:rPr sz="2150" spc="5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is</a:t>
            </a:r>
            <a:r>
              <a:rPr sz="2150" spc="6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found.</a:t>
            </a:r>
            <a:endParaRPr sz="2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Ideal</a:t>
            </a:r>
            <a:r>
              <a:rPr sz="2150" spc="6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for</a:t>
            </a:r>
            <a:r>
              <a:rPr sz="2150" spc="6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real-time</a:t>
            </a:r>
            <a:r>
              <a:rPr sz="2150" spc="6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dynamic</a:t>
            </a:r>
            <a:r>
              <a:rPr sz="2150" spc="6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data</a:t>
            </a:r>
            <a:r>
              <a:rPr sz="2150" spc="6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management.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86700" y="2619956"/>
            <a:ext cx="6967855" cy="1791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95"/>
              </a:spcBef>
            </a:pPr>
            <a:r>
              <a:rPr sz="3300" b="1" dirty="0">
                <a:solidFill>
                  <a:srgbClr val="C493DA"/>
                </a:solidFill>
                <a:latin typeface="Arial"/>
                <a:cs typeface="Arial"/>
              </a:rPr>
              <a:t>Secondary</a:t>
            </a:r>
            <a:r>
              <a:rPr sz="3300" b="1" spc="-35" dirty="0">
                <a:solidFill>
                  <a:srgbClr val="C493DA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C493DA"/>
                </a:solidFill>
                <a:latin typeface="Arial"/>
                <a:cs typeface="Arial"/>
              </a:rPr>
              <a:t>Data</a:t>
            </a:r>
            <a:r>
              <a:rPr sz="3300" b="1" spc="-25" dirty="0">
                <a:solidFill>
                  <a:srgbClr val="C493DA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C493DA"/>
                </a:solidFill>
                <a:latin typeface="Arial"/>
                <a:cs typeface="Arial"/>
              </a:rPr>
              <a:t>Structure</a:t>
            </a:r>
            <a:r>
              <a:rPr sz="3300" b="1" spc="-25" dirty="0">
                <a:solidFill>
                  <a:srgbClr val="C493DA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C493DA"/>
                </a:solidFill>
                <a:latin typeface="Arial"/>
                <a:cs typeface="Arial"/>
              </a:rPr>
              <a:t>–</a:t>
            </a:r>
            <a:r>
              <a:rPr sz="3300" b="1" spc="-20" dirty="0">
                <a:solidFill>
                  <a:srgbClr val="C493DA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C493DA"/>
                </a:solidFill>
                <a:latin typeface="Arial"/>
                <a:cs typeface="Arial"/>
              </a:rPr>
              <a:t>Binary </a:t>
            </a:r>
            <a:r>
              <a:rPr sz="3300" b="1" dirty="0">
                <a:solidFill>
                  <a:srgbClr val="C493DA"/>
                </a:solidFill>
                <a:latin typeface="Arial"/>
                <a:cs typeface="Arial"/>
              </a:rPr>
              <a:t>Search</a:t>
            </a:r>
            <a:r>
              <a:rPr sz="3300" b="1" spc="-30" dirty="0">
                <a:solidFill>
                  <a:srgbClr val="C493DA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C493DA"/>
                </a:solidFill>
                <a:latin typeface="Arial"/>
                <a:cs typeface="Arial"/>
              </a:rPr>
              <a:t>Tree</a:t>
            </a:r>
            <a:r>
              <a:rPr sz="3300" b="1" spc="-20" dirty="0">
                <a:solidFill>
                  <a:srgbClr val="C493DA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C493DA"/>
                </a:solidFill>
                <a:latin typeface="Arial"/>
                <a:cs typeface="Arial"/>
              </a:rPr>
              <a:t>(BST)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75"/>
              </a:spcBef>
            </a:pPr>
            <a:r>
              <a:rPr sz="2150" b="1" dirty="0">
                <a:solidFill>
                  <a:srgbClr val="EBECF0"/>
                </a:solidFill>
                <a:latin typeface="Arial"/>
                <a:cs typeface="Arial"/>
              </a:rPr>
              <a:t>Structure</a:t>
            </a:r>
            <a:r>
              <a:rPr sz="2150" b="1" spc="60" dirty="0">
                <a:solidFill>
                  <a:srgbClr val="EBECF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EBECF0"/>
                </a:solidFill>
                <a:latin typeface="Arial"/>
                <a:cs typeface="Arial"/>
              </a:rPr>
              <a:t>Name:</a:t>
            </a:r>
            <a:r>
              <a:rPr sz="2150" b="1" spc="75" dirty="0">
                <a:solidFill>
                  <a:srgbClr val="EBECF0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BSTNode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86700" y="4647939"/>
            <a:ext cx="6817359" cy="7493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0500"/>
              </a:lnSpc>
              <a:spcBef>
                <a:spcPts val="90"/>
              </a:spcBef>
            </a:pPr>
            <a:r>
              <a:rPr sz="2150" b="1" dirty="0">
                <a:solidFill>
                  <a:srgbClr val="EBECF0"/>
                </a:solidFill>
                <a:latin typeface="Arial"/>
                <a:cs typeface="Arial"/>
              </a:rPr>
              <a:t>Purpose:</a:t>
            </a:r>
            <a:r>
              <a:rPr sz="2150" b="1" spc="55" dirty="0">
                <a:solidFill>
                  <a:srgbClr val="EBECF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Used</a:t>
            </a:r>
            <a:r>
              <a:rPr sz="2150" spc="7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temporarily</a:t>
            </a:r>
            <a:r>
              <a:rPr sz="2150" spc="8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during</a:t>
            </a:r>
            <a:r>
              <a:rPr sz="2150" spc="8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rendering</a:t>
            </a:r>
            <a:r>
              <a:rPr sz="2150" spc="8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for</a:t>
            </a:r>
            <a:r>
              <a:rPr sz="2150" spc="7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sorting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particles</a:t>
            </a:r>
            <a:r>
              <a:rPr sz="2150" spc="6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by</a:t>
            </a:r>
            <a:r>
              <a:rPr sz="2150" spc="5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lifetime.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86700" y="5697104"/>
            <a:ext cx="1771014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b="1" dirty="0">
                <a:solidFill>
                  <a:srgbClr val="F1F5FA"/>
                </a:solidFill>
                <a:latin typeface="Arial"/>
                <a:cs typeface="Arial"/>
              </a:rPr>
              <a:t>Why</a:t>
            </a:r>
            <a:r>
              <a:rPr sz="2750" b="1" spc="-45" dirty="0">
                <a:solidFill>
                  <a:srgbClr val="F1F5FA"/>
                </a:solidFill>
                <a:latin typeface="Arial"/>
                <a:cs typeface="Arial"/>
              </a:rPr>
              <a:t> </a:t>
            </a:r>
            <a:r>
              <a:rPr sz="2750" b="1" spc="-20" dirty="0">
                <a:solidFill>
                  <a:srgbClr val="F1F5FA"/>
                </a:solidFill>
                <a:latin typeface="Arial"/>
                <a:cs typeface="Arial"/>
              </a:rPr>
              <a:t>BST?</a:t>
            </a:r>
            <a:endParaRPr sz="275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700" y="6617394"/>
            <a:ext cx="76200" cy="761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700" y="7085011"/>
            <a:ext cx="76200" cy="761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816503" y="6306927"/>
            <a:ext cx="6384925" cy="132270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Natural</a:t>
            </a:r>
            <a:r>
              <a:rPr sz="2150" spc="8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ordered</a:t>
            </a:r>
            <a:r>
              <a:rPr sz="2150" spc="8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traversal</a:t>
            </a:r>
            <a:r>
              <a:rPr sz="2150" spc="8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through</a:t>
            </a:r>
            <a:r>
              <a:rPr sz="2150" spc="8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Inorder</a:t>
            </a:r>
            <a:r>
              <a:rPr sz="2150" spc="8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Traversal.</a:t>
            </a:r>
            <a:endParaRPr sz="2150">
              <a:latin typeface="Microsoft Sans Serif"/>
              <a:cs typeface="Microsoft Sans Serif"/>
            </a:endParaRPr>
          </a:p>
          <a:p>
            <a:pPr marL="12700" marR="182245">
              <a:lnSpc>
                <a:spcPct val="110500"/>
              </a:lnSpc>
              <a:spcBef>
                <a:spcPts val="830"/>
              </a:spcBef>
            </a:pP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Average-case</a:t>
            </a:r>
            <a:r>
              <a:rPr sz="2150" spc="6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complexity</a:t>
            </a:r>
            <a:r>
              <a:rPr sz="2150" spc="6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O(N</a:t>
            </a:r>
            <a:r>
              <a:rPr sz="2150" spc="7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log</a:t>
            </a:r>
            <a:r>
              <a:rPr sz="2150" spc="7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N)</a:t>
            </a:r>
            <a:r>
              <a:rPr sz="2150" spc="6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for</a:t>
            </a:r>
            <a:r>
              <a:rPr sz="2150" spc="7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building</a:t>
            </a:r>
            <a:r>
              <a:rPr sz="2150" spc="7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spc="-50" dirty="0">
                <a:solidFill>
                  <a:srgbClr val="EBECF0"/>
                </a:solidFill>
                <a:latin typeface="Microsoft Sans Serif"/>
                <a:cs typeface="Microsoft Sans Serif"/>
              </a:rPr>
              <a:t>+ </a:t>
            </a:r>
            <a:r>
              <a:rPr sz="21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rendering.</a:t>
            </a:r>
            <a:endParaRPr sz="215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92237" y="8103542"/>
            <a:ext cx="16303625" cy="1120140"/>
            <a:chOff x="992237" y="8103542"/>
            <a:chExt cx="16303625" cy="1120140"/>
          </a:xfrm>
        </p:grpSpPr>
        <p:sp>
          <p:nvSpPr>
            <p:cNvPr id="17" name="object 17"/>
            <p:cNvSpPr/>
            <p:nvPr/>
          </p:nvSpPr>
          <p:spPr>
            <a:xfrm>
              <a:off x="992237" y="8103542"/>
              <a:ext cx="16303625" cy="1120140"/>
            </a:xfrm>
            <a:custGeom>
              <a:avLst/>
              <a:gdLst/>
              <a:ahLst/>
              <a:cxnLst/>
              <a:rect l="l" t="t" r="r" b="b"/>
              <a:pathLst>
                <a:path w="16303625" h="1120140">
                  <a:moveTo>
                    <a:pt x="16184404" y="1119568"/>
                  </a:moveTo>
                  <a:lnTo>
                    <a:pt x="119062" y="1119568"/>
                  </a:lnTo>
                  <a:lnTo>
                    <a:pt x="72732" y="1110207"/>
                  </a:lnTo>
                  <a:lnTo>
                    <a:pt x="34885" y="1084683"/>
                  </a:lnTo>
                  <a:lnTo>
                    <a:pt x="9361" y="1046836"/>
                  </a:lnTo>
                  <a:lnTo>
                    <a:pt x="0" y="1000506"/>
                  </a:lnTo>
                  <a:lnTo>
                    <a:pt x="0" y="119062"/>
                  </a:lnTo>
                  <a:lnTo>
                    <a:pt x="9361" y="72732"/>
                  </a:lnTo>
                  <a:lnTo>
                    <a:pt x="34885" y="34885"/>
                  </a:lnTo>
                  <a:lnTo>
                    <a:pt x="72732" y="9361"/>
                  </a:lnTo>
                  <a:lnTo>
                    <a:pt x="119062" y="0"/>
                  </a:lnTo>
                  <a:lnTo>
                    <a:pt x="16184404" y="0"/>
                  </a:lnTo>
                  <a:lnTo>
                    <a:pt x="16230734" y="9361"/>
                  </a:lnTo>
                  <a:lnTo>
                    <a:pt x="16268581" y="34885"/>
                  </a:lnTo>
                  <a:lnTo>
                    <a:pt x="16294105" y="72732"/>
                  </a:lnTo>
                  <a:lnTo>
                    <a:pt x="16303467" y="119062"/>
                  </a:lnTo>
                  <a:lnTo>
                    <a:pt x="16303467" y="1000506"/>
                  </a:lnTo>
                  <a:lnTo>
                    <a:pt x="16294105" y="1046836"/>
                  </a:lnTo>
                  <a:lnTo>
                    <a:pt x="16268581" y="1084683"/>
                  </a:lnTo>
                  <a:lnTo>
                    <a:pt x="16230734" y="1110207"/>
                  </a:lnTo>
                  <a:lnTo>
                    <a:pt x="16184404" y="1119568"/>
                  </a:lnTo>
                  <a:close/>
                </a:path>
              </a:pathLst>
            </a:custGeom>
            <a:solidFill>
              <a:srgbClr val="0018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5754" y="8486031"/>
              <a:ext cx="354330" cy="28355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900932" y="8418277"/>
            <a:ext cx="953262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b="1" dirty="0">
                <a:solidFill>
                  <a:srgbClr val="FFFFFF"/>
                </a:solidFill>
                <a:latin typeface="Arial"/>
                <a:cs typeface="Arial"/>
              </a:rPr>
              <a:t>Visual</a:t>
            </a:r>
            <a:r>
              <a:rPr sz="215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FFFFFF"/>
                </a:solidFill>
                <a:latin typeface="Arial"/>
                <a:cs typeface="Arial"/>
              </a:rPr>
              <a:t>Flow:</a:t>
            </a:r>
            <a:r>
              <a:rPr sz="215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FFFFFF"/>
                </a:solidFill>
                <a:latin typeface="Microsoft Sans Serif"/>
                <a:cs typeface="Microsoft Sans Serif"/>
              </a:rPr>
              <a:t>ParticleList</a:t>
            </a:r>
            <a:r>
              <a:rPr sz="215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FFFFFF"/>
                </a:solidFill>
                <a:latin typeface="Microsoft Sans Serif"/>
                <a:cs typeface="Microsoft Sans Serif"/>
              </a:rPr>
              <a:t>(Dynamic</a:t>
            </a:r>
            <a:r>
              <a:rPr sz="215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FFFFFF"/>
                </a:solidFill>
                <a:latin typeface="Microsoft Sans Serif"/>
                <a:cs typeface="Microsoft Sans Serif"/>
              </a:rPr>
              <a:t>Management)</a:t>
            </a:r>
            <a:r>
              <a:rPr sz="215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215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FFFFFF"/>
                </a:solidFill>
                <a:latin typeface="Microsoft Sans Serif"/>
                <a:cs typeface="Microsoft Sans Serif"/>
              </a:rPr>
              <a:t>BST</a:t>
            </a:r>
            <a:r>
              <a:rPr sz="215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FFFFFF"/>
                </a:solidFill>
                <a:latin typeface="Microsoft Sans Serif"/>
                <a:cs typeface="Microsoft Sans Serif"/>
              </a:rPr>
              <a:t>(Sorted</a:t>
            </a:r>
            <a:r>
              <a:rPr sz="215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Rendering)</a:t>
            </a:r>
            <a:endParaRPr sz="2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7463" y="522072"/>
            <a:ext cx="13796010" cy="8140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600" dirty="0"/>
              <a:t>Abstract</a:t>
            </a:r>
            <a:r>
              <a:rPr sz="4600" spc="-15" dirty="0"/>
              <a:t> </a:t>
            </a:r>
            <a:r>
              <a:rPr sz="4600" dirty="0"/>
              <a:t>Data</a:t>
            </a:r>
            <a:r>
              <a:rPr sz="4600" spc="-15" dirty="0"/>
              <a:t> </a:t>
            </a:r>
            <a:r>
              <a:rPr sz="4600" dirty="0"/>
              <a:t>Type</a:t>
            </a:r>
            <a:r>
              <a:rPr sz="4600" spc="-15" dirty="0"/>
              <a:t> </a:t>
            </a:r>
            <a:r>
              <a:rPr sz="4600" dirty="0"/>
              <a:t>(ADT)</a:t>
            </a:r>
            <a:r>
              <a:rPr sz="4600" spc="-10" dirty="0"/>
              <a:t> </a:t>
            </a:r>
            <a:r>
              <a:rPr sz="4600" dirty="0"/>
              <a:t>–</a:t>
            </a:r>
            <a:r>
              <a:rPr sz="4600" spc="-15" dirty="0"/>
              <a:t> </a:t>
            </a:r>
            <a:r>
              <a:rPr sz="4600" dirty="0"/>
              <a:t>Doubly</a:t>
            </a:r>
            <a:r>
              <a:rPr sz="4600" spc="-15" dirty="0"/>
              <a:t> </a:t>
            </a:r>
            <a:r>
              <a:rPr sz="4600" dirty="0"/>
              <a:t>Linked</a:t>
            </a:r>
            <a:r>
              <a:rPr sz="4600" spc="-15" dirty="0"/>
              <a:t> </a:t>
            </a:r>
            <a:r>
              <a:rPr sz="4600" dirty="0"/>
              <a:t>List</a:t>
            </a:r>
            <a:r>
              <a:rPr sz="4600" spc="-10" dirty="0"/>
              <a:t> </a:t>
            </a:r>
            <a:r>
              <a:rPr sz="5150" b="0" spc="-380" dirty="0">
                <a:solidFill>
                  <a:srgbClr val="000000"/>
                </a:solidFill>
                <a:latin typeface="Webdings"/>
                <a:cs typeface="Webdings"/>
              </a:rPr>
              <a:t>🔗</a:t>
            </a:r>
            <a:endParaRPr sz="5150">
              <a:latin typeface="Webdings"/>
              <a:cs typeface="Webding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7463" y="1479663"/>
            <a:ext cx="5203190" cy="587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650" b="1" dirty="0">
                <a:solidFill>
                  <a:srgbClr val="6195FF"/>
                </a:solidFill>
                <a:latin typeface="Arial"/>
                <a:cs typeface="Arial"/>
              </a:rPr>
              <a:t>ADT</a:t>
            </a:r>
            <a:r>
              <a:rPr sz="3650" b="1" spc="20" dirty="0">
                <a:solidFill>
                  <a:srgbClr val="6195FF"/>
                </a:solidFill>
                <a:latin typeface="Arial"/>
                <a:cs typeface="Arial"/>
              </a:rPr>
              <a:t> </a:t>
            </a:r>
            <a:r>
              <a:rPr sz="3650" b="1" dirty="0">
                <a:solidFill>
                  <a:srgbClr val="6195FF"/>
                </a:solidFill>
                <a:latin typeface="Arial"/>
                <a:cs typeface="Arial"/>
              </a:rPr>
              <a:t>Name:</a:t>
            </a:r>
            <a:r>
              <a:rPr sz="3650" b="1" spc="35" dirty="0">
                <a:solidFill>
                  <a:srgbClr val="6195FF"/>
                </a:solidFill>
                <a:latin typeface="Arial"/>
                <a:cs typeface="Arial"/>
              </a:rPr>
              <a:t> </a:t>
            </a:r>
            <a:r>
              <a:rPr sz="3650" b="1" spc="-10" dirty="0">
                <a:solidFill>
                  <a:srgbClr val="6195FF"/>
                </a:solidFill>
                <a:latin typeface="Arial"/>
                <a:cs typeface="Arial"/>
              </a:rPr>
              <a:t>ParticleList</a:t>
            </a:r>
            <a:endParaRPr sz="36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15876" y="2486173"/>
            <a:ext cx="8220075" cy="2297430"/>
            <a:chOff x="815876" y="2486173"/>
            <a:chExt cx="8220075" cy="2297430"/>
          </a:xfrm>
        </p:grpSpPr>
        <p:sp>
          <p:nvSpPr>
            <p:cNvPr id="5" name="object 5"/>
            <p:cNvSpPr/>
            <p:nvPr/>
          </p:nvSpPr>
          <p:spPr>
            <a:xfrm>
              <a:off x="830163" y="2500460"/>
              <a:ext cx="8195309" cy="2268855"/>
            </a:xfrm>
            <a:custGeom>
              <a:avLst/>
              <a:gdLst/>
              <a:ahLst/>
              <a:cxnLst/>
              <a:rect l="l" t="t" r="r" b="b"/>
              <a:pathLst>
                <a:path w="8195309" h="2268854">
                  <a:moveTo>
                    <a:pt x="8094726" y="2268569"/>
                  </a:moveTo>
                  <a:lnTo>
                    <a:pt x="100488" y="2268569"/>
                  </a:lnTo>
                  <a:lnTo>
                    <a:pt x="61360" y="2260743"/>
                  </a:lnTo>
                  <a:lnTo>
                    <a:pt x="29420" y="2239398"/>
                  </a:lnTo>
                  <a:lnTo>
                    <a:pt x="7892" y="2207731"/>
                  </a:lnTo>
                  <a:lnTo>
                    <a:pt x="0" y="2168937"/>
                  </a:lnTo>
                  <a:lnTo>
                    <a:pt x="0" y="99631"/>
                  </a:lnTo>
                  <a:lnTo>
                    <a:pt x="7892" y="60837"/>
                  </a:lnTo>
                  <a:lnTo>
                    <a:pt x="29420" y="29170"/>
                  </a:lnTo>
                  <a:lnTo>
                    <a:pt x="61360" y="7825"/>
                  </a:lnTo>
                  <a:lnTo>
                    <a:pt x="100488" y="0"/>
                  </a:lnTo>
                  <a:lnTo>
                    <a:pt x="8094726" y="0"/>
                  </a:lnTo>
                  <a:lnTo>
                    <a:pt x="8133854" y="7825"/>
                  </a:lnTo>
                  <a:lnTo>
                    <a:pt x="8165794" y="29170"/>
                  </a:lnTo>
                  <a:lnTo>
                    <a:pt x="8187322" y="60837"/>
                  </a:lnTo>
                  <a:lnTo>
                    <a:pt x="8195215" y="99631"/>
                  </a:lnTo>
                  <a:lnTo>
                    <a:pt x="8195215" y="2168937"/>
                  </a:lnTo>
                  <a:lnTo>
                    <a:pt x="8187322" y="2207731"/>
                  </a:lnTo>
                  <a:lnTo>
                    <a:pt x="8165794" y="2239398"/>
                  </a:lnTo>
                  <a:lnTo>
                    <a:pt x="8133854" y="2260743"/>
                  </a:lnTo>
                  <a:lnTo>
                    <a:pt x="8094726" y="2268569"/>
                  </a:lnTo>
                  <a:close/>
                </a:path>
              </a:pathLst>
            </a:custGeom>
            <a:solidFill>
              <a:srgbClr val="0F16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5876" y="2486173"/>
              <a:ext cx="8220075" cy="2297430"/>
            </a:xfrm>
            <a:custGeom>
              <a:avLst/>
              <a:gdLst/>
              <a:ahLst/>
              <a:cxnLst/>
              <a:rect l="l" t="t" r="r" b="b"/>
              <a:pathLst>
                <a:path w="8220075" h="2297429">
                  <a:moveTo>
                    <a:pt x="114776" y="2297144"/>
                  </a:moveTo>
                  <a:lnTo>
                    <a:pt x="70160" y="2288211"/>
                  </a:lnTo>
                  <a:lnTo>
                    <a:pt x="33670" y="2263830"/>
                  </a:lnTo>
                  <a:lnTo>
                    <a:pt x="9039" y="2227626"/>
                  </a:lnTo>
                  <a:lnTo>
                    <a:pt x="0" y="2183225"/>
                  </a:lnTo>
                  <a:lnTo>
                    <a:pt x="0" y="113919"/>
                  </a:lnTo>
                  <a:lnTo>
                    <a:pt x="9039" y="69517"/>
                  </a:lnTo>
                  <a:lnTo>
                    <a:pt x="33670" y="33313"/>
                  </a:lnTo>
                  <a:lnTo>
                    <a:pt x="70160" y="8932"/>
                  </a:lnTo>
                  <a:lnTo>
                    <a:pt x="114776" y="0"/>
                  </a:lnTo>
                  <a:lnTo>
                    <a:pt x="8109014" y="0"/>
                  </a:lnTo>
                  <a:lnTo>
                    <a:pt x="8109014" y="14287"/>
                  </a:lnTo>
                  <a:lnTo>
                    <a:pt x="114776" y="14287"/>
                  </a:lnTo>
                  <a:lnTo>
                    <a:pt x="114776" y="28575"/>
                  </a:lnTo>
                  <a:lnTo>
                    <a:pt x="81155" y="35306"/>
                  </a:lnTo>
                  <a:lnTo>
                    <a:pt x="53756" y="53637"/>
                  </a:lnTo>
                  <a:lnTo>
                    <a:pt x="35325" y="80773"/>
                  </a:lnTo>
                  <a:lnTo>
                    <a:pt x="28575" y="113919"/>
                  </a:lnTo>
                  <a:lnTo>
                    <a:pt x="28575" y="2183225"/>
                  </a:lnTo>
                  <a:lnTo>
                    <a:pt x="35360" y="2216411"/>
                  </a:lnTo>
                  <a:lnTo>
                    <a:pt x="53833" y="2243542"/>
                  </a:lnTo>
                  <a:lnTo>
                    <a:pt x="81242" y="2261851"/>
                  </a:lnTo>
                  <a:lnTo>
                    <a:pt x="114776" y="2268569"/>
                  </a:lnTo>
                  <a:lnTo>
                    <a:pt x="8183027" y="2268569"/>
                  </a:lnTo>
                  <a:lnTo>
                    <a:pt x="8161644" y="2282856"/>
                  </a:lnTo>
                  <a:lnTo>
                    <a:pt x="114776" y="2282856"/>
                  </a:lnTo>
                  <a:lnTo>
                    <a:pt x="114776" y="2297144"/>
                  </a:lnTo>
                  <a:close/>
                </a:path>
                <a:path w="8220075" h="2297429">
                  <a:moveTo>
                    <a:pt x="8183027" y="2268569"/>
                  </a:moveTo>
                  <a:lnTo>
                    <a:pt x="8109014" y="2268569"/>
                  </a:lnTo>
                  <a:lnTo>
                    <a:pt x="8142615" y="2261851"/>
                  </a:lnTo>
                  <a:lnTo>
                    <a:pt x="8170010" y="2243542"/>
                  </a:lnTo>
                  <a:lnTo>
                    <a:pt x="8188457" y="2216411"/>
                  </a:lnTo>
                  <a:lnTo>
                    <a:pt x="8195215" y="2183225"/>
                  </a:lnTo>
                  <a:lnTo>
                    <a:pt x="8195215" y="113919"/>
                  </a:lnTo>
                  <a:lnTo>
                    <a:pt x="8188457" y="80773"/>
                  </a:lnTo>
                  <a:lnTo>
                    <a:pt x="8170010" y="53637"/>
                  </a:lnTo>
                  <a:lnTo>
                    <a:pt x="8142615" y="35306"/>
                  </a:lnTo>
                  <a:lnTo>
                    <a:pt x="8109014" y="28575"/>
                  </a:lnTo>
                  <a:lnTo>
                    <a:pt x="114776" y="28575"/>
                  </a:lnTo>
                  <a:lnTo>
                    <a:pt x="114776" y="14287"/>
                  </a:lnTo>
                  <a:lnTo>
                    <a:pt x="8109014" y="14287"/>
                  </a:lnTo>
                  <a:lnTo>
                    <a:pt x="8109014" y="0"/>
                  </a:lnTo>
                  <a:lnTo>
                    <a:pt x="8153629" y="8932"/>
                  </a:lnTo>
                  <a:lnTo>
                    <a:pt x="8190119" y="33313"/>
                  </a:lnTo>
                  <a:lnTo>
                    <a:pt x="8214750" y="69517"/>
                  </a:lnTo>
                  <a:lnTo>
                    <a:pt x="8219534" y="93014"/>
                  </a:lnTo>
                  <a:lnTo>
                    <a:pt x="8219534" y="2204130"/>
                  </a:lnTo>
                  <a:lnTo>
                    <a:pt x="8214750" y="2227626"/>
                  </a:lnTo>
                  <a:lnTo>
                    <a:pt x="8190119" y="2263830"/>
                  </a:lnTo>
                  <a:lnTo>
                    <a:pt x="8183027" y="2268569"/>
                  </a:lnTo>
                  <a:close/>
                </a:path>
                <a:path w="8220075" h="2297429">
                  <a:moveTo>
                    <a:pt x="8109014" y="2297144"/>
                  </a:moveTo>
                  <a:lnTo>
                    <a:pt x="114776" y="2297144"/>
                  </a:lnTo>
                  <a:lnTo>
                    <a:pt x="114776" y="2282856"/>
                  </a:lnTo>
                  <a:lnTo>
                    <a:pt x="8109014" y="2282856"/>
                  </a:lnTo>
                  <a:lnTo>
                    <a:pt x="8109014" y="2297144"/>
                  </a:lnTo>
                  <a:close/>
                </a:path>
                <a:path w="8220075" h="2297429">
                  <a:moveTo>
                    <a:pt x="8109014" y="2297144"/>
                  </a:moveTo>
                  <a:lnTo>
                    <a:pt x="8109014" y="2282856"/>
                  </a:lnTo>
                  <a:lnTo>
                    <a:pt x="8161644" y="2282856"/>
                  </a:lnTo>
                  <a:lnTo>
                    <a:pt x="8153629" y="2288211"/>
                  </a:lnTo>
                  <a:lnTo>
                    <a:pt x="8109014" y="2297144"/>
                  </a:lnTo>
                  <a:close/>
                </a:path>
              </a:pathLst>
            </a:custGeom>
            <a:solidFill>
              <a:srgbClr val="0029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83121" y="2731227"/>
            <a:ext cx="3990340" cy="1729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b="1" spc="-20" dirty="0">
                <a:solidFill>
                  <a:srgbClr val="EBECF0"/>
                </a:solidFill>
                <a:latin typeface="Arial"/>
                <a:cs typeface="Arial"/>
              </a:rPr>
              <a:t>Data</a:t>
            </a:r>
            <a:endParaRPr sz="2300">
              <a:latin typeface="Arial"/>
              <a:cs typeface="Arial"/>
            </a:endParaRPr>
          </a:p>
          <a:p>
            <a:pPr marL="12700" marR="5080">
              <a:lnSpc>
                <a:spcPts val="3550"/>
              </a:lnSpc>
              <a:spcBef>
                <a:spcPts val="145"/>
              </a:spcBef>
            </a:pPr>
            <a:r>
              <a:rPr sz="1800" b="1" dirty="0">
                <a:solidFill>
                  <a:srgbClr val="EBECF0"/>
                </a:solidFill>
                <a:latin typeface="Arial"/>
                <a:cs typeface="Arial"/>
              </a:rPr>
              <a:t>Particle:</a:t>
            </a:r>
            <a:r>
              <a:rPr sz="1800" b="1" spc="-15" dirty="0">
                <a:solidFill>
                  <a:srgbClr val="EBECF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x,</a:t>
            </a:r>
            <a:r>
              <a:rPr sz="1800" spc="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y,</a:t>
            </a:r>
            <a:r>
              <a:rPr sz="1800" spc="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dx,</a:t>
            </a:r>
            <a:r>
              <a:rPr sz="1800" spc="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dy,</a:t>
            </a:r>
            <a:r>
              <a:rPr sz="1800" spc="1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lifetime </a:t>
            </a:r>
            <a:r>
              <a:rPr sz="1800" b="1" dirty="0">
                <a:solidFill>
                  <a:srgbClr val="EBECF0"/>
                </a:solidFill>
                <a:latin typeface="Arial"/>
                <a:cs typeface="Arial"/>
              </a:rPr>
              <a:t>ParticleCell:</a:t>
            </a:r>
            <a:r>
              <a:rPr sz="1800" b="1" spc="-45" dirty="0">
                <a:solidFill>
                  <a:srgbClr val="EBECF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data</a:t>
            </a:r>
            <a:r>
              <a:rPr sz="1800" spc="-1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(Particle),</a:t>
            </a:r>
            <a:r>
              <a:rPr sz="1800" spc="-2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prev,</a:t>
            </a:r>
            <a:r>
              <a:rPr sz="1800" spc="-1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EBECF0"/>
                </a:solidFill>
                <a:latin typeface="Microsoft Sans Serif"/>
                <a:cs typeface="Microsoft Sans Serif"/>
              </a:rPr>
              <a:t>next </a:t>
            </a:r>
            <a:r>
              <a:rPr sz="1800" b="1" dirty="0">
                <a:solidFill>
                  <a:srgbClr val="EBECF0"/>
                </a:solidFill>
                <a:latin typeface="Arial"/>
                <a:cs typeface="Arial"/>
              </a:rPr>
              <a:t>ParticleList:</a:t>
            </a:r>
            <a:r>
              <a:rPr sz="1800" b="1" spc="-45" dirty="0">
                <a:solidFill>
                  <a:srgbClr val="EBECF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head,</a:t>
            </a:r>
            <a:r>
              <a:rPr sz="1800" spc="-1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tail,</a:t>
            </a:r>
            <a:r>
              <a:rPr sz="1800" spc="-1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EBECF0"/>
                </a:solidFill>
                <a:latin typeface="Microsoft Sans Serif"/>
                <a:cs typeface="Microsoft Sans Serif"/>
              </a:rPr>
              <a:t>size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248180" y="2486173"/>
            <a:ext cx="8220075" cy="2297430"/>
            <a:chOff x="9248180" y="2486173"/>
            <a:chExt cx="8220075" cy="2297430"/>
          </a:xfrm>
        </p:grpSpPr>
        <p:sp>
          <p:nvSpPr>
            <p:cNvPr id="9" name="object 9"/>
            <p:cNvSpPr/>
            <p:nvPr/>
          </p:nvSpPr>
          <p:spPr>
            <a:xfrm>
              <a:off x="9262468" y="2500460"/>
              <a:ext cx="8195309" cy="2268855"/>
            </a:xfrm>
            <a:custGeom>
              <a:avLst/>
              <a:gdLst/>
              <a:ahLst/>
              <a:cxnLst/>
              <a:rect l="l" t="t" r="r" b="b"/>
              <a:pathLst>
                <a:path w="8195309" h="2268854">
                  <a:moveTo>
                    <a:pt x="8094820" y="2268569"/>
                  </a:moveTo>
                  <a:lnTo>
                    <a:pt x="100488" y="2268569"/>
                  </a:lnTo>
                  <a:lnTo>
                    <a:pt x="61360" y="2260743"/>
                  </a:lnTo>
                  <a:lnTo>
                    <a:pt x="29420" y="2239398"/>
                  </a:lnTo>
                  <a:lnTo>
                    <a:pt x="7892" y="2207731"/>
                  </a:lnTo>
                  <a:lnTo>
                    <a:pt x="0" y="2168937"/>
                  </a:lnTo>
                  <a:lnTo>
                    <a:pt x="0" y="99631"/>
                  </a:lnTo>
                  <a:lnTo>
                    <a:pt x="7892" y="60837"/>
                  </a:lnTo>
                  <a:lnTo>
                    <a:pt x="29420" y="29170"/>
                  </a:lnTo>
                  <a:lnTo>
                    <a:pt x="61360" y="7825"/>
                  </a:lnTo>
                  <a:lnTo>
                    <a:pt x="100488" y="0"/>
                  </a:lnTo>
                  <a:lnTo>
                    <a:pt x="8094820" y="0"/>
                  </a:lnTo>
                  <a:lnTo>
                    <a:pt x="8133949" y="7825"/>
                  </a:lnTo>
                  <a:lnTo>
                    <a:pt x="8165889" y="29170"/>
                  </a:lnTo>
                  <a:lnTo>
                    <a:pt x="8187417" y="60837"/>
                  </a:lnTo>
                  <a:lnTo>
                    <a:pt x="8195309" y="99631"/>
                  </a:lnTo>
                  <a:lnTo>
                    <a:pt x="8195309" y="2168937"/>
                  </a:lnTo>
                  <a:lnTo>
                    <a:pt x="8187417" y="2207731"/>
                  </a:lnTo>
                  <a:lnTo>
                    <a:pt x="8165889" y="2239398"/>
                  </a:lnTo>
                  <a:lnTo>
                    <a:pt x="8133949" y="2260743"/>
                  </a:lnTo>
                  <a:lnTo>
                    <a:pt x="8094820" y="2268569"/>
                  </a:lnTo>
                  <a:close/>
                </a:path>
              </a:pathLst>
            </a:custGeom>
            <a:solidFill>
              <a:srgbClr val="0F16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248180" y="2486173"/>
              <a:ext cx="8220075" cy="2297430"/>
            </a:xfrm>
            <a:custGeom>
              <a:avLst/>
              <a:gdLst/>
              <a:ahLst/>
              <a:cxnLst/>
              <a:rect l="l" t="t" r="r" b="b"/>
              <a:pathLst>
                <a:path w="8220075" h="2297429">
                  <a:moveTo>
                    <a:pt x="114776" y="2297144"/>
                  </a:moveTo>
                  <a:lnTo>
                    <a:pt x="70160" y="2288211"/>
                  </a:lnTo>
                  <a:lnTo>
                    <a:pt x="33671" y="2263830"/>
                  </a:lnTo>
                  <a:lnTo>
                    <a:pt x="9039" y="2227626"/>
                  </a:lnTo>
                  <a:lnTo>
                    <a:pt x="0" y="2183225"/>
                  </a:lnTo>
                  <a:lnTo>
                    <a:pt x="0" y="113919"/>
                  </a:lnTo>
                  <a:lnTo>
                    <a:pt x="9039" y="69517"/>
                  </a:lnTo>
                  <a:lnTo>
                    <a:pt x="33671" y="33313"/>
                  </a:lnTo>
                  <a:lnTo>
                    <a:pt x="70160" y="8932"/>
                  </a:lnTo>
                  <a:lnTo>
                    <a:pt x="114776" y="0"/>
                  </a:lnTo>
                  <a:lnTo>
                    <a:pt x="8109108" y="0"/>
                  </a:lnTo>
                  <a:lnTo>
                    <a:pt x="8109108" y="14287"/>
                  </a:lnTo>
                  <a:lnTo>
                    <a:pt x="114776" y="14287"/>
                  </a:lnTo>
                  <a:lnTo>
                    <a:pt x="114776" y="28575"/>
                  </a:lnTo>
                  <a:lnTo>
                    <a:pt x="81155" y="35306"/>
                  </a:lnTo>
                  <a:lnTo>
                    <a:pt x="53756" y="53637"/>
                  </a:lnTo>
                  <a:lnTo>
                    <a:pt x="35325" y="80773"/>
                  </a:lnTo>
                  <a:lnTo>
                    <a:pt x="28575" y="113919"/>
                  </a:lnTo>
                  <a:lnTo>
                    <a:pt x="28575" y="2183225"/>
                  </a:lnTo>
                  <a:lnTo>
                    <a:pt x="35360" y="2216411"/>
                  </a:lnTo>
                  <a:lnTo>
                    <a:pt x="53834" y="2243542"/>
                  </a:lnTo>
                  <a:lnTo>
                    <a:pt x="81242" y="2261851"/>
                  </a:lnTo>
                  <a:lnTo>
                    <a:pt x="114776" y="2268569"/>
                  </a:lnTo>
                  <a:lnTo>
                    <a:pt x="8183121" y="2268569"/>
                  </a:lnTo>
                  <a:lnTo>
                    <a:pt x="8161738" y="2282856"/>
                  </a:lnTo>
                  <a:lnTo>
                    <a:pt x="114776" y="2282856"/>
                  </a:lnTo>
                  <a:lnTo>
                    <a:pt x="114776" y="2297144"/>
                  </a:lnTo>
                  <a:close/>
                </a:path>
                <a:path w="8220075" h="2297429">
                  <a:moveTo>
                    <a:pt x="8183121" y="2268569"/>
                  </a:moveTo>
                  <a:lnTo>
                    <a:pt x="8109108" y="2268569"/>
                  </a:lnTo>
                  <a:lnTo>
                    <a:pt x="8142709" y="2261851"/>
                  </a:lnTo>
                  <a:lnTo>
                    <a:pt x="8170104" y="2243542"/>
                  </a:lnTo>
                  <a:lnTo>
                    <a:pt x="8188551" y="2216411"/>
                  </a:lnTo>
                  <a:lnTo>
                    <a:pt x="8195309" y="2183225"/>
                  </a:lnTo>
                  <a:lnTo>
                    <a:pt x="8195309" y="113919"/>
                  </a:lnTo>
                  <a:lnTo>
                    <a:pt x="8188551" y="80773"/>
                  </a:lnTo>
                  <a:lnTo>
                    <a:pt x="8170104" y="53637"/>
                  </a:lnTo>
                  <a:lnTo>
                    <a:pt x="8142709" y="35306"/>
                  </a:lnTo>
                  <a:lnTo>
                    <a:pt x="8109108" y="28575"/>
                  </a:lnTo>
                  <a:lnTo>
                    <a:pt x="114776" y="28575"/>
                  </a:lnTo>
                  <a:lnTo>
                    <a:pt x="114776" y="14287"/>
                  </a:lnTo>
                  <a:lnTo>
                    <a:pt x="8109108" y="14287"/>
                  </a:lnTo>
                  <a:lnTo>
                    <a:pt x="8109108" y="0"/>
                  </a:lnTo>
                  <a:lnTo>
                    <a:pt x="8153724" y="8932"/>
                  </a:lnTo>
                  <a:lnTo>
                    <a:pt x="8190213" y="33313"/>
                  </a:lnTo>
                  <a:lnTo>
                    <a:pt x="8214845" y="69517"/>
                  </a:lnTo>
                  <a:lnTo>
                    <a:pt x="8219534" y="92550"/>
                  </a:lnTo>
                  <a:lnTo>
                    <a:pt x="8219534" y="2204593"/>
                  </a:lnTo>
                  <a:lnTo>
                    <a:pt x="8214845" y="2227626"/>
                  </a:lnTo>
                  <a:lnTo>
                    <a:pt x="8190213" y="2263830"/>
                  </a:lnTo>
                  <a:lnTo>
                    <a:pt x="8183121" y="2268569"/>
                  </a:lnTo>
                  <a:close/>
                </a:path>
                <a:path w="8220075" h="2297429">
                  <a:moveTo>
                    <a:pt x="8109108" y="2297144"/>
                  </a:moveTo>
                  <a:lnTo>
                    <a:pt x="114776" y="2297144"/>
                  </a:lnTo>
                  <a:lnTo>
                    <a:pt x="114776" y="2282856"/>
                  </a:lnTo>
                  <a:lnTo>
                    <a:pt x="8109108" y="2282856"/>
                  </a:lnTo>
                  <a:lnTo>
                    <a:pt x="8109108" y="2297144"/>
                  </a:lnTo>
                  <a:close/>
                </a:path>
                <a:path w="8220075" h="2297429">
                  <a:moveTo>
                    <a:pt x="8109108" y="2297144"/>
                  </a:moveTo>
                  <a:lnTo>
                    <a:pt x="8109108" y="2282856"/>
                  </a:lnTo>
                  <a:lnTo>
                    <a:pt x="8161738" y="2282856"/>
                  </a:lnTo>
                  <a:lnTo>
                    <a:pt x="8153724" y="2288211"/>
                  </a:lnTo>
                  <a:lnTo>
                    <a:pt x="8109108" y="2297144"/>
                  </a:lnTo>
                  <a:close/>
                </a:path>
              </a:pathLst>
            </a:custGeom>
            <a:solidFill>
              <a:srgbClr val="0029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515423" y="2731227"/>
            <a:ext cx="6163945" cy="11233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b="1" spc="-10" dirty="0">
                <a:solidFill>
                  <a:srgbClr val="EBECF0"/>
                </a:solidFill>
                <a:latin typeface="Arial"/>
                <a:cs typeface="Arial"/>
              </a:rPr>
              <a:t>Operations</a:t>
            </a:r>
            <a:endParaRPr sz="2300">
              <a:latin typeface="Arial"/>
              <a:cs typeface="Arial"/>
            </a:endParaRPr>
          </a:p>
          <a:p>
            <a:pPr marL="12700" marR="5080">
              <a:lnSpc>
                <a:spcPct val="107600"/>
              </a:lnSpc>
              <a:spcBef>
                <a:spcPts val="1220"/>
              </a:spcBef>
            </a:pP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initParticleList,</a:t>
            </a:r>
            <a:r>
              <a:rPr sz="1800" spc="-8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addParticle,</a:t>
            </a:r>
            <a:r>
              <a:rPr sz="1800" spc="-8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removeParticle,</a:t>
            </a:r>
            <a:r>
              <a:rPr sz="1800" spc="-8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updateParticles, cleanupParticles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7463" y="5085123"/>
            <a:ext cx="287782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b="1" dirty="0">
                <a:solidFill>
                  <a:srgbClr val="F1F5FA"/>
                </a:solidFill>
                <a:latin typeface="Arial"/>
                <a:cs typeface="Arial"/>
              </a:rPr>
              <a:t>Core</a:t>
            </a:r>
            <a:r>
              <a:rPr sz="2750" b="1" spc="-55" dirty="0">
                <a:solidFill>
                  <a:srgbClr val="F1F5FA"/>
                </a:solidFill>
                <a:latin typeface="Arial"/>
                <a:cs typeface="Arial"/>
              </a:rPr>
              <a:t> </a:t>
            </a:r>
            <a:r>
              <a:rPr sz="2750" b="1" spc="-10" dirty="0">
                <a:solidFill>
                  <a:srgbClr val="F1F5FA"/>
                </a:solidFill>
                <a:latin typeface="Arial"/>
                <a:cs typeface="Arial"/>
              </a:rPr>
              <a:t>Operations:</a:t>
            </a:r>
            <a:endParaRPr sz="27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25401" y="5938242"/>
            <a:ext cx="16637635" cy="3700779"/>
            <a:chOff x="825401" y="5938242"/>
            <a:chExt cx="16637635" cy="3700779"/>
          </a:xfrm>
        </p:grpSpPr>
        <p:sp>
          <p:nvSpPr>
            <p:cNvPr id="14" name="object 14"/>
            <p:cNvSpPr/>
            <p:nvPr/>
          </p:nvSpPr>
          <p:spPr>
            <a:xfrm>
              <a:off x="825401" y="5938242"/>
              <a:ext cx="16637635" cy="3700779"/>
            </a:xfrm>
            <a:custGeom>
              <a:avLst/>
              <a:gdLst/>
              <a:ahLst/>
              <a:cxnLst/>
              <a:rect l="l" t="t" r="r" b="b"/>
              <a:pathLst>
                <a:path w="16637635" h="3700779">
                  <a:moveTo>
                    <a:pt x="104584" y="3700461"/>
                  </a:moveTo>
                  <a:lnTo>
                    <a:pt x="63891" y="3692253"/>
                  </a:lnTo>
                  <a:lnTo>
                    <a:pt x="30646" y="3669874"/>
                  </a:lnTo>
                  <a:lnTo>
                    <a:pt x="8224" y="3636690"/>
                  </a:lnTo>
                  <a:lnTo>
                    <a:pt x="0" y="3596068"/>
                  </a:lnTo>
                  <a:lnTo>
                    <a:pt x="0" y="104394"/>
                  </a:lnTo>
                  <a:lnTo>
                    <a:pt x="8224" y="63771"/>
                  </a:lnTo>
                  <a:lnTo>
                    <a:pt x="30646" y="30587"/>
                  </a:lnTo>
                  <a:lnTo>
                    <a:pt x="63891" y="8207"/>
                  </a:lnTo>
                  <a:lnTo>
                    <a:pt x="104584" y="0"/>
                  </a:lnTo>
                  <a:lnTo>
                    <a:pt x="16532635" y="0"/>
                  </a:lnTo>
                  <a:lnTo>
                    <a:pt x="16532635" y="4762"/>
                  </a:lnTo>
                  <a:lnTo>
                    <a:pt x="104584" y="4762"/>
                  </a:lnTo>
                  <a:lnTo>
                    <a:pt x="104584" y="9525"/>
                  </a:lnTo>
                  <a:lnTo>
                    <a:pt x="67590" y="16981"/>
                  </a:lnTo>
                  <a:lnTo>
                    <a:pt x="37373" y="37314"/>
                  </a:lnTo>
                  <a:lnTo>
                    <a:pt x="16997" y="67469"/>
                  </a:lnTo>
                  <a:lnTo>
                    <a:pt x="9525" y="104394"/>
                  </a:lnTo>
                  <a:lnTo>
                    <a:pt x="9525" y="3596068"/>
                  </a:lnTo>
                  <a:lnTo>
                    <a:pt x="16997" y="3632992"/>
                  </a:lnTo>
                  <a:lnTo>
                    <a:pt x="37373" y="3663148"/>
                  </a:lnTo>
                  <a:lnTo>
                    <a:pt x="67590" y="3683481"/>
                  </a:lnTo>
                  <a:lnTo>
                    <a:pt x="104584" y="3690937"/>
                  </a:lnTo>
                  <a:lnTo>
                    <a:pt x="16575284" y="3690937"/>
                  </a:lnTo>
                  <a:lnTo>
                    <a:pt x="16573328" y="3692253"/>
                  </a:lnTo>
                  <a:lnTo>
                    <a:pt x="16556244" y="3695699"/>
                  </a:lnTo>
                  <a:lnTo>
                    <a:pt x="104584" y="3695699"/>
                  </a:lnTo>
                  <a:lnTo>
                    <a:pt x="104584" y="3700461"/>
                  </a:lnTo>
                  <a:close/>
                </a:path>
                <a:path w="16637635" h="3700779">
                  <a:moveTo>
                    <a:pt x="16575284" y="3690937"/>
                  </a:moveTo>
                  <a:lnTo>
                    <a:pt x="16532635" y="3690937"/>
                  </a:lnTo>
                  <a:lnTo>
                    <a:pt x="16569629" y="3683481"/>
                  </a:lnTo>
                  <a:lnTo>
                    <a:pt x="16599846" y="3663148"/>
                  </a:lnTo>
                  <a:lnTo>
                    <a:pt x="16620222" y="3632992"/>
                  </a:lnTo>
                  <a:lnTo>
                    <a:pt x="16627694" y="3596068"/>
                  </a:lnTo>
                  <a:lnTo>
                    <a:pt x="16627694" y="104394"/>
                  </a:lnTo>
                  <a:lnTo>
                    <a:pt x="16620222" y="67469"/>
                  </a:lnTo>
                  <a:lnTo>
                    <a:pt x="16599846" y="37314"/>
                  </a:lnTo>
                  <a:lnTo>
                    <a:pt x="16569629" y="16981"/>
                  </a:lnTo>
                  <a:lnTo>
                    <a:pt x="16532635" y="9525"/>
                  </a:lnTo>
                  <a:lnTo>
                    <a:pt x="104584" y="9525"/>
                  </a:lnTo>
                  <a:lnTo>
                    <a:pt x="104584" y="4762"/>
                  </a:lnTo>
                  <a:lnTo>
                    <a:pt x="16532635" y="4762"/>
                  </a:lnTo>
                  <a:lnTo>
                    <a:pt x="16532635" y="0"/>
                  </a:lnTo>
                  <a:lnTo>
                    <a:pt x="16573328" y="8207"/>
                  </a:lnTo>
                  <a:lnTo>
                    <a:pt x="16606573" y="30587"/>
                  </a:lnTo>
                  <a:lnTo>
                    <a:pt x="16628995" y="63771"/>
                  </a:lnTo>
                  <a:lnTo>
                    <a:pt x="16637219" y="104394"/>
                  </a:lnTo>
                  <a:lnTo>
                    <a:pt x="16637219" y="3596068"/>
                  </a:lnTo>
                  <a:lnTo>
                    <a:pt x="16628995" y="3636690"/>
                  </a:lnTo>
                  <a:lnTo>
                    <a:pt x="16606573" y="3669874"/>
                  </a:lnTo>
                  <a:lnTo>
                    <a:pt x="16575284" y="3690937"/>
                  </a:lnTo>
                  <a:close/>
                </a:path>
                <a:path w="16637635" h="3700779">
                  <a:moveTo>
                    <a:pt x="16532635" y="3700461"/>
                  </a:moveTo>
                  <a:lnTo>
                    <a:pt x="104584" y="3700461"/>
                  </a:lnTo>
                  <a:lnTo>
                    <a:pt x="104584" y="3695699"/>
                  </a:lnTo>
                  <a:lnTo>
                    <a:pt x="16532635" y="3695699"/>
                  </a:lnTo>
                  <a:lnTo>
                    <a:pt x="16532635" y="3700461"/>
                  </a:lnTo>
                  <a:close/>
                </a:path>
                <a:path w="16637635" h="3700779">
                  <a:moveTo>
                    <a:pt x="16532635" y="3700461"/>
                  </a:moveTo>
                  <a:lnTo>
                    <a:pt x="16532635" y="3695699"/>
                  </a:lnTo>
                  <a:lnTo>
                    <a:pt x="16556244" y="3695699"/>
                  </a:lnTo>
                  <a:lnTo>
                    <a:pt x="16532635" y="3700461"/>
                  </a:lnTo>
                  <a:close/>
                </a:path>
              </a:pathLst>
            </a:custGeom>
            <a:solidFill>
              <a:srgbClr val="FFFFFF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9688" y="5952530"/>
              <a:ext cx="16609694" cy="612140"/>
            </a:xfrm>
            <a:custGeom>
              <a:avLst/>
              <a:gdLst/>
              <a:ahLst/>
              <a:cxnLst/>
              <a:rect l="l" t="t" r="r" b="b"/>
              <a:pathLst>
                <a:path w="16609694" h="612140">
                  <a:moveTo>
                    <a:pt x="16609553" y="611981"/>
                  </a:moveTo>
                  <a:lnTo>
                    <a:pt x="0" y="611981"/>
                  </a:lnTo>
                  <a:lnTo>
                    <a:pt x="0" y="0"/>
                  </a:lnTo>
                  <a:lnTo>
                    <a:pt x="16609553" y="0"/>
                  </a:lnTo>
                  <a:lnTo>
                    <a:pt x="16609553" y="611981"/>
                  </a:lnTo>
                  <a:close/>
                </a:path>
              </a:pathLst>
            </a:custGeom>
            <a:solidFill>
              <a:srgbClr val="FFFFFF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064220" y="6067886"/>
            <a:ext cx="111252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0" dirty="0">
                <a:solidFill>
                  <a:srgbClr val="EBECF0"/>
                </a:solidFill>
                <a:latin typeface="Arial"/>
                <a:cs typeface="Arial"/>
              </a:rPr>
              <a:t>Operation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51451" y="6067886"/>
            <a:ext cx="129159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0" dirty="0">
                <a:solidFill>
                  <a:srgbClr val="EBECF0"/>
                </a:solidFill>
                <a:latin typeface="Arial"/>
                <a:cs typeface="Arial"/>
              </a:rPr>
              <a:t>Description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25301" y="6067886"/>
            <a:ext cx="186690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dirty="0">
                <a:solidFill>
                  <a:srgbClr val="EBECF0"/>
                </a:solidFill>
                <a:latin typeface="Arial"/>
                <a:cs typeface="Arial"/>
              </a:rPr>
              <a:t>Time</a:t>
            </a:r>
            <a:r>
              <a:rPr sz="1800" b="1" spc="-15" dirty="0">
                <a:solidFill>
                  <a:srgbClr val="EBECF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EBECF0"/>
                </a:solidFill>
                <a:latin typeface="Arial"/>
                <a:cs typeface="Arial"/>
              </a:rPr>
              <a:t>Complexity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9688" y="6564511"/>
            <a:ext cx="16609694" cy="612140"/>
          </a:xfrm>
          <a:custGeom>
            <a:avLst/>
            <a:gdLst/>
            <a:ahLst/>
            <a:cxnLst/>
            <a:rect l="l" t="t" r="r" b="b"/>
            <a:pathLst>
              <a:path w="16609694" h="612140">
                <a:moveTo>
                  <a:pt x="16609553" y="611981"/>
                </a:moveTo>
                <a:lnTo>
                  <a:pt x="0" y="611981"/>
                </a:lnTo>
                <a:lnTo>
                  <a:pt x="0" y="0"/>
                </a:lnTo>
                <a:lnTo>
                  <a:pt x="16609553" y="0"/>
                </a:lnTo>
                <a:lnTo>
                  <a:pt x="16609553" y="611981"/>
                </a:lnTo>
                <a:close/>
              </a:path>
            </a:pathLst>
          </a:custGeom>
          <a:solidFill>
            <a:srgbClr val="000000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64220" y="6679866"/>
            <a:ext cx="159829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initParticleList()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51451" y="6679866"/>
            <a:ext cx="200787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Initialises</a:t>
            </a:r>
            <a:r>
              <a:rPr sz="1800" spc="-3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empty</a:t>
            </a:r>
            <a:r>
              <a:rPr sz="1800" spc="-3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EBECF0"/>
                </a:solidFill>
                <a:latin typeface="Microsoft Sans Serif"/>
                <a:cs typeface="Microsoft Sans Serif"/>
              </a:rPr>
              <a:t>list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525301" y="6679866"/>
            <a:ext cx="48577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" dirty="0">
                <a:solidFill>
                  <a:srgbClr val="EBECF0"/>
                </a:solidFill>
                <a:latin typeface="Microsoft Sans Serif"/>
                <a:cs typeface="Microsoft Sans Serif"/>
              </a:rPr>
              <a:t>O(1)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9688" y="7176492"/>
            <a:ext cx="16609694" cy="612140"/>
          </a:xfrm>
          <a:custGeom>
            <a:avLst/>
            <a:gdLst/>
            <a:ahLst/>
            <a:cxnLst/>
            <a:rect l="l" t="t" r="r" b="b"/>
            <a:pathLst>
              <a:path w="16609694" h="612140">
                <a:moveTo>
                  <a:pt x="16609553" y="611981"/>
                </a:moveTo>
                <a:lnTo>
                  <a:pt x="0" y="611981"/>
                </a:lnTo>
                <a:lnTo>
                  <a:pt x="0" y="0"/>
                </a:lnTo>
                <a:lnTo>
                  <a:pt x="16609553" y="0"/>
                </a:lnTo>
                <a:lnTo>
                  <a:pt x="16609553" y="611981"/>
                </a:lnTo>
                <a:close/>
              </a:path>
            </a:pathLst>
          </a:custGeom>
          <a:solidFill>
            <a:srgbClr val="FFFFFF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064220" y="7291847"/>
            <a:ext cx="133032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addParticle()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51451" y="7291847"/>
            <a:ext cx="292925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Appends</a:t>
            </a:r>
            <a:r>
              <a:rPr sz="1800" spc="-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new particle to </a:t>
            </a:r>
            <a:r>
              <a:rPr sz="1800" spc="-25" dirty="0">
                <a:solidFill>
                  <a:srgbClr val="EBECF0"/>
                </a:solidFill>
                <a:latin typeface="Microsoft Sans Serif"/>
                <a:cs typeface="Microsoft Sans Serif"/>
              </a:rPr>
              <a:t>end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525301" y="7291847"/>
            <a:ext cx="48577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" dirty="0">
                <a:solidFill>
                  <a:srgbClr val="EBECF0"/>
                </a:solidFill>
                <a:latin typeface="Microsoft Sans Serif"/>
                <a:cs typeface="Microsoft Sans Serif"/>
              </a:rPr>
              <a:t>O(1)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9688" y="7788474"/>
            <a:ext cx="16609694" cy="612140"/>
          </a:xfrm>
          <a:custGeom>
            <a:avLst/>
            <a:gdLst/>
            <a:ahLst/>
            <a:cxnLst/>
            <a:rect l="l" t="t" r="r" b="b"/>
            <a:pathLst>
              <a:path w="16609694" h="612140">
                <a:moveTo>
                  <a:pt x="16609553" y="611981"/>
                </a:moveTo>
                <a:lnTo>
                  <a:pt x="0" y="611981"/>
                </a:lnTo>
                <a:lnTo>
                  <a:pt x="0" y="0"/>
                </a:lnTo>
                <a:lnTo>
                  <a:pt x="16609553" y="0"/>
                </a:lnTo>
                <a:lnTo>
                  <a:pt x="16609553" y="611981"/>
                </a:lnTo>
                <a:close/>
              </a:path>
            </a:pathLst>
          </a:custGeom>
          <a:solidFill>
            <a:srgbClr val="000000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064220" y="7903829"/>
            <a:ext cx="171323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removeParticle()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51451" y="7903829"/>
            <a:ext cx="436118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Removes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given</a:t>
            </a:r>
            <a:r>
              <a:rPr sz="1800" spc="-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particle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and</a:t>
            </a:r>
            <a:r>
              <a:rPr sz="1800" spc="-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re-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links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 nodes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525301" y="7903829"/>
            <a:ext cx="184150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O(1)</a:t>
            </a:r>
            <a:r>
              <a:rPr sz="1800" spc="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(once</a:t>
            </a:r>
            <a:r>
              <a:rPr sz="1800" spc="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found)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9688" y="8400455"/>
            <a:ext cx="16609694" cy="612140"/>
          </a:xfrm>
          <a:custGeom>
            <a:avLst/>
            <a:gdLst/>
            <a:ahLst/>
            <a:cxnLst/>
            <a:rect l="l" t="t" r="r" b="b"/>
            <a:pathLst>
              <a:path w="16609694" h="612140">
                <a:moveTo>
                  <a:pt x="16609553" y="611981"/>
                </a:moveTo>
                <a:lnTo>
                  <a:pt x="0" y="611981"/>
                </a:lnTo>
                <a:lnTo>
                  <a:pt x="0" y="0"/>
                </a:lnTo>
                <a:lnTo>
                  <a:pt x="16609553" y="0"/>
                </a:lnTo>
                <a:lnTo>
                  <a:pt x="16609553" y="611981"/>
                </a:lnTo>
                <a:close/>
              </a:path>
            </a:pathLst>
          </a:custGeom>
          <a:solidFill>
            <a:srgbClr val="FFFFFF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064220" y="8515810"/>
            <a:ext cx="1764664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updateParticles()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51451" y="8515810"/>
            <a:ext cx="566610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Updates</a:t>
            </a:r>
            <a:r>
              <a:rPr sz="1800" spc="-3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positions,</a:t>
            </a:r>
            <a:r>
              <a:rPr sz="1800" spc="-3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decrements</a:t>
            </a:r>
            <a:r>
              <a:rPr sz="1800" spc="-2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lifetime,</a:t>
            </a:r>
            <a:r>
              <a:rPr sz="1800" spc="-3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deletes</a:t>
            </a:r>
            <a:r>
              <a:rPr sz="1800" spc="-2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expired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525301" y="8515810"/>
            <a:ext cx="52387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" dirty="0">
                <a:solidFill>
                  <a:srgbClr val="EBECF0"/>
                </a:solidFill>
                <a:latin typeface="Microsoft Sans Serif"/>
                <a:cs typeface="Microsoft Sans Serif"/>
              </a:rPr>
              <a:t>O(N)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39688" y="9012436"/>
            <a:ext cx="16609694" cy="612140"/>
          </a:xfrm>
          <a:custGeom>
            <a:avLst/>
            <a:gdLst/>
            <a:ahLst/>
            <a:cxnLst/>
            <a:rect l="l" t="t" r="r" b="b"/>
            <a:pathLst>
              <a:path w="16609694" h="612140">
                <a:moveTo>
                  <a:pt x="16609553" y="611981"/>
                </a:moveTo>
                <a:lnTo>
                  <a:pt x="0" y="611981"/>
                </a:lnTo>
                <a:lnTo>
                  <a:pt x="0" y="0"/>
                </a:lnTo>
                <a:lnTo>
                  <a:pt x="16609553" y="0"/>
                </a:lnTo>
                <a:lnTo>
                  <a:pt x="16609553" y="611981"/>
                </a:lnTo>
                <a:close/>
              </a:path>
            </a:pathLst>
          </a:custGeom>
          <a:solidFill>
            <a:srgbClr val="000000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064220" y="9127791"/>
            <a:ext cx="186690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cleanupParticles()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051451" y="9127791"/>
            <a:ext cx="258381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Frees</a:t>
            </a:r>
            <a:r>
              <a:rPr sz="1800" spc="-1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all</a:t>
            </a:r>
            <a:r>
              <a:rPr sz="1800" spc="-1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allocated</a:t>
            </a:r>
            <a:r>
              <a:rPr sz="1800" spc="-1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nodes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525301" y="9127791"/>
            <a:ext cx="52387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" dirty="0">
                <a:solidFill>
                  <a:srgbClr val="EBECF0"/>
                </a:solidFill>
                <a:latin typeface="Microsoft Sans Serif"/>
                <a:cs typeface="Microsoft Sans Serif"/>
              </a:rPr>
              <a:t>O(N)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7612" y="894975"/>
            <a:ext cx="15624810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/>
              <a:t>Abstract</a:t>
            </a:r>
            <a:r>
              <a:rPr sz="4600" spc="-15" dirty="0"/>
              <a:t> </a:t>
            </a:r>
            <a:r>
              <a:rPr sz="4600" dirty="0"/>
              <a:t>Data</a:t>
            </a:r>
            <a:r>
              <a:rPr sz="4600" spc="-15" dirty="0"/>
              <a:t> </a:t>
            </a:r>
            <a:r>
              <a:rPr sz="4600" dirty="0"/>
              <a:t>Type</a:t>
            </a:r>
            <a:r>
              <a:rPr sz="4600" spc="-15" dirty="0"/>
              <a:t> </a:t>
            </a:r>
            <a:r>
              <a:rPr sz="4600" dirty="0"/>
              <a:t>(ADT)</a:t>
            </a:r>
            <a:r>
              <a:rPr sz="4600" spc="-15" dirty="0"/>
              <a:t> </a:t>
            </a:r>
            <a:r>
              <a:rPr sz="4600" dirty="0"/>
              <a:t>–</a:t>
            </a:r>
            <a:r>
              <a:rPr sz="4600" spc="-10" dirty="0"/>
              <a:t> </a:t>
            </a:r>
            <a:r>
              <a:rPr sz="4600" dirty="0"/>
              <a:t>Binary</a:t>
            </a:r>
            <a:r>
              <a:rPr sz="4600" spc="-15" dirty="0"/>
              <a:t> </a:t>
            </a:r>
            <a:r>
              <a:rPr sz="4600" dirty="0"/>
              <a:t>Search</a:t>
            </a:r>
            <a:r>
              <a:rPr sz="4600" spc="-15" dirty="0"/>
              <a:t> </a:t>
            </a:r>
            <a:r>
              <a:rPr sz="4600" dirty="0"/>
              <a:t>Tree</a:t>
            </a:r>
            <a:r>
              <a:rPr sz="4600" spc="-15" dirty="0"/>
              <a:t> </a:t>
            </a:r>
            <a:r>
              <a:rPr sz="4600" dirty="0"/>
              <a:t>(BST)</a:t>
            </a:r>
            <a:r>
              <a:rPr sz="4600" spc="-10" dirty="0"/>
              <a:t> </a:t>
            </a:r>
            <a:r>
              <a:rPr sz="5200" b="0" spc="-420" dirty="0">
                <a:solidFill>
                  <a:srgbClr val="000000"/>
                </a:solidFill>
                <a:latin typeface="Webdings"/>
                <a:cs typeface="Webdings"/>
              </a:rPr>
              <a:t>🌲</a:t>
            </a:r>
            <a:endParaRPr sz="5200">
              <a:latin typeface="Webdings"/>
              <a:cs typeface="Webding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7612" y="1856495"/>
            <a:ext cx="4785995" cy="587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650" b="1" dirty="0">
                <a:solidFill>
                  <a:srgbClr val="C493DA"/>
                </a:solidFill>
                <a:latin typeface="Arial"/>
                <a:cs typeface="Arial"/>
              </a:rPr>
              <a:t>ADT</a:t>
            </a:r>
            <a:r>
              <a:rPr sz="3650" b="1" spc="20" dirty="0">
                <a:solidFill>
                  <a:srgbClr val="C493DA"/>
                </a:solidFill>
                <a:latin typeface="Arial"/>
                <a:cs typeface="Arial"/>
              </a:rPr>
              <a:t> </a:t>
            </a:r>
            <a:r>
              <a:rPr sz="3650" b="1" dirty="0">
                <a:solidFill>
                  <a:srgbClr val="C493DA"/>
                </a:solidFill>
                <a:latin typeface="Arial"/>
                <a:cs typeface="Arial"/>
              </a:rPr>
              <a:t>Name:</a:t>
            </a:r>
            <a:r>
              <a:rPr sz="3650" b="1" spc="35" dirty="0">
                <a:solidFill>
                  <a:srgbClr val="C493DA"/>
                </a:solidFill>
                <a:latin typeface="Arial"/>
                <a:cs typeface="Arial"/>
              </a:rPr>
              <a:t> </a:t>
            </a:r>
            <a:r>
              <a:rPr sz="3650" b="1" spc="-10" dirty="0">
                <a:solidFill>
                  <a:srgbClr val="C493DA"/>
                </a:solidFill>
                <a:latin typeface="Arial"/>
                <a:cs typeface="Arial"/>
              </a:rPr>
              <a:t>BSTNode</a:t>
            </a:r>
            <a:endParaRPr sz="36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16024" y="2863154"/>
            <a:ext cx="8223884" cy="1847214"/>
            <a:chOff x="816024" y="2863154"/>
            <a:chExt cx="8223884" cy="1847214"/>
          </a:xfrm>
        </p:grpSpPr>
        <p:sp>
          <p:nvSpPr>
            <p:cNvPr id="5" name="object 5"/>
            <p:cNvSpPr/>
            <p:nvPr/>
          </p:nvSpPr>
          <p:spPr>
            <a:xfrm>
              <a:off x="830312" y="2877442"/>
              <a:ext cx="8195309" cy="1818639"/>
            </a:xfrm>
            <a:custGeom>
              <a:avLst/>
              <a:gdLst/>
              <a:ahLst/>
              <a:cxnLst/>
              <a:rect l="l" t="t" r="r" b="b"/>
              <a:pathLst>
                <a:path w="8195309" h="1818639">
                  <a:moveTo>
                    <a:pt x="8094249" y="1818322"/>
                  </a:moveTo>
                  <a:lnTo>
                    <a:pt x="100869" y="1818322"/>
                  </a:lnTo>
                  <a:lnTo>
                    <a:pt x="61601" y="1810496"/>
                  </a:lnTo>
                  <a:lnTo>
                    <a:pt x="29539" y="1789151"/>
                  </a:lnTo>
                  <a:lnTo>
                    <a:pt x="7925" y="1757484"/>
                  </a:lnTo>
                  <a:lnTo>
                    <a:pt x="0" y="1718690"/>
                  </a:lnTo>
                  <a:lnTo>
                    <a:pt x="0" y="99631"/>
                  </a:lnTo>
                  <a:lnTo>
                    <a:pt x="7925" y="60837"/>
                  </a:lnTo>
                  <a:lnTo>
                    <a:pt x="29539" y="29170"/>
                  </a:lnTo>
                  <a:lnTo>
                    <a:pt x="61601" y="7825"/>
                  </a:lnTo>
                  <a:lnTo>
                    <a:pt x="100869" y="0"/>
                  </a:lnTo>
                  <a:lnTo>
                    <a:pt x="8094249" y="0"/>
                  </a:lnTo>
                  <a:lnTo>
                    <a:pt x="8133517" y="7825"/>
                  </a:lnTo>
                  <a:lnTo>
                    <a:pt x="8165579" y="29170"/>
                  </a:lnTo>
                  <a:lnTo>
                    <a:pt x="8187193" y="60837"/>
                  </a:lnTo>
                  <a:lnTo>
                    <a:pt x="8195118" y="99631"/>
                  </a:lnTo>
                  <a:lnTo>
                    <a:pt x="8195118" y="1718690"/>
                  </a:lnTo>
                  <a:lnTo>
                    <a:pt x="8187193" y="1757484"/>
                  </a:lnTo>
                  <a:lnTo>
                    <a:pt x="8165579" y="1789151"/>
                  </a:lnTo>
                  <a:lnTo>
                    <a:pt x="8133517" y="1810496"/>
                  </a:lnTo>
                  <a:lnTo>
                    <a:pt x="8094249" y="1818322"/>
                  </a:lnTo>
                  <a:close/>
                </a:path>
              </a:pathLst>
            </a:custGeom>
            <a:solidFill>
              <a:srgbClr val="0F1620">
                <a:alpha val="9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6024" y="2863154"/>
              <a:ext cx="8223884" cy="1847214"/>
            </a:xfrm>
            <a:custGeom>
              <a:avLst/>
              <a:gdLst/>
              <a:ahLst/>
              <a:cxnLst/>
              <a:rect l="l" t="t" r="r" b="b"/>
              <a:pathLst>
                <a:path w="8223884" h="1847214">
                  <a:moveTo>
                    <a:pt x="115145" y="1846897"/>
                  </a:moveTo>
                  <a:lnTo>
                    <a:pt x="114857" y="1846897"/>
                  </a:lnTo>
                  <a:lnTo>
                    <a:pt x="70401" y="1838018"/>
                  </a:lnTo>
                  <a:lnTo>
                    <a:pt x="33789" y="1813655"/>
                  </a:lnTo>
                  <a:lnTo>
                    <a:pt x="9072" y="1777433"/>
                  </a:lnTo>
                  <a:lnTo>
                    <a:pt x="0" y="1732978"/>
                  </a:lnTo>
                  <a:lnTo>
                    <a:pt x="0" y="113919"/>
                  </a:lnTo>
                  <a:lnTo>
                    <a:pt x="9072" y="69517"/>
                  </a:lnTo>
                  <a:lnTo>
                    <a:pt x="33789" y="33313"/>
                  </a:lnTo>
                  <a:lnTo>
                    <a:pt x="70401" y="8932"/>
                  </a:lnTo>
                  <a:lnTo>
                    <a:pt x="115157" y="0"/>
                  </a:lnTo>
                  <a:lnTo>
                    <a:pt x="8108536" y="0"/>
                  </a:lnTo>
                  <a:lnTo>
                    <a:pt x="8108536" y="14287"/>
                  </a:lnTo>
                  <a:lnTo>
                    <a:pt x="115157" y="14287"/>
                  </a:lnTo>
                  <a:lnTo>
                    <a:pt x="115157" y="28575"/>
                  </a:lnTo>
                  <a:lnTo>
                    <a:pt x="81376" y="35306"/>
                  </a:lnTo>
                  <a:lnTo>
                    <a:pt x="53863" y="53637"/>
                  </a:lnTo>
                  <a:lnTo>
                    <a:pt x="35352" y="80773"/>
                  </a:lnTo>
                  <a:lnTo>
                    <a:pt x="28575" y="113919"/>
                  </a:lnTo>
                  <a:lnTo>
                    <a:pt x="28575" y="1732978"/>
                  </a:lnTo>
                  <a:lnTo>
                    <a:pt x="35352" y="1766123"/>
                  </a:lnTo>
                  <a:lnTo>
                    <a:pt x="53863" y="1793259"/>
                  </a:lnTo>
                  <a:lnTo>
                    <a:pt x="81376" y="1811590"/>
                  </a:lnTo>
                  <a:lnTo>
                    <a:pt x="115157" y="1818322"/>
                  </a:lnTo>
                  <a:lnTo>
                    <a:pt x="8182788" y="1818322"/>
                  </a:lnTo>
                  <a:lnTo>
                    <a:pt x="8161333" y="1832609"/>
                  </a:lnTo>
                  <a:lnTo>
                    <a:pt x="115157" y="1832609"/>
                  </a:lnTo>
                  <a:lnTo>
                    <a:pt x="115145" y="1846897"/>
                  </a:lnTo>
                  <a:close/>
                </a:path>
                <a:path w="8223884" h="1847214">
                  <a:moveTo>
                    <a:pt x="8182788" y="1818322"/>
                  </a:moveTo>
                  <a:lnTo>
                    <a:pt x="8108536" y="1818322"/>
                  </a:lnTo>
                  <a:lnTo>
                    <a:pt x="8142317" y="1811590"/>
                  </a:lnTo>
                  <a:lnTo>
                    <a:pt x="8169830" y="1793259"/>
                  </a:lnTo>
                  <a:lnTo>
                    <a:pt x="8188341" y="1766123"/>
                  </a:lnTo>
                  <a:lnTo>
                    <a:pt x="8195118" y="1732978"/>
                  </a:lnTo>
                  <a:lnTo>
                    <a:pt x="8195118" y="113919"/>
                  </a:lnTo>
                  <a:lnTo>
                    <a:pt x="8188341" y="80773"/>
                  </a:lnTo>
                  <a:lnTo>
                    <a:pt x="8169830" y="53637"/>
                  </a:lnTo>
                  <a:lnTo>
                    <a:pt x="8142317" y="35306"/>
                  </a:lnTo>
                  <a:lnTo>
                    <a:pt x="8108536" y="28575"/>
                  </a:lnTo>
                  <a:lnTo>
                    <a:pt x="115157" y="28575"/>
                  </a:lnTo>
                  <a:lnTo>
                    <a:pt x="115157" y="14287"/>
                  </a:lnTo>
                  <a:lnTo>
                    <a:pt x="8108536" y="14287"/>
                  </a:lnTo>
                  <a:lnTo>
                    <a:pt x="8108536" y="0"/>
                  </a:lnTo>
                  <a:lnTo>
                    <a:pt x="8153292" y="8932"/>
                  </a:lnTo>
                  <a:lnTo>
                    <a:pt x="8189903" y="33313"/>
                  </a:lnTo>
                  <a:lnTo>
                    <a:pt x="8214621" y="69517"/>
                  </a:lnTo>
                  <a:lnTo>
                    <a:pt x="8223693" y="113919"/>
                  </a:lnTo>
                  <a:lnTo>
                    <a:pt x="8223693" y="1732978"/>
                  </a:lnTo>
                  <a:lnTo>
                    <a:pt x="8216921" y="1766123"/>
                  </a:lnTo>
                  <a:lnTo>
                    <a:pt x="8214584" y="1777433"/>
                  </a:lnTo>
                  <a:lnTo>
                    <a:pt x="8191264" y="1811590"/>
                  </a:lnTo>
                  <a:lnTo>
                    <a:pt x="8189796" y="1813655"/>
                  </a:lnTo>
                  <a:lnTo>
                    <a:pt x="8182788" y="1818322"/>
                  </a:lnTo>
                  <a:close/>
                </a:path>
                <a:path w="8223884" h="1847214">
                  <a:moveTo>
                    <a:pt x="8108536" y="1846897"/>
                  </a:moveTo>
                  <a:lnTo>
                    <a:pt x="115157" y="1846897"/>
                  </a:lnTo>
                  <a:lnTo>
                    <a:pt x="115157" y="1832609"/>
                  </a:lnTo>
                  <a:lnTo>
                    <a:pt x="8108536" y="1832609"/>
                  </a:lnTo>
                  <a:lnTo>
                    <a:pt x="8108536" y="1846897"/>
                  </a:lnTo>
                  <a:close/>
                </a:path>
                <a:path w="8223884" h="1847214">
                  <a:moveTo>
                    <a:pt x="8108536" y="1846897"/>
                  </a:moveTo>
                  <a:lnTo>
                    <a:pt x="8108536" y="1832609"/>
                  </a:lnTo>
                  <a:lnTo>
                    <a:pt x="8161333" y="1832609"/>
                  </a:lnTo>
                  <a:lnTo>
                    <a:pt x="8153211" y="1838018"/>
                  </a:lnTo>
                  <a:lnTo>
                    <a:pt x="8153023" y="1838018"/>
                  </a:lnTo>
                  <a:lnTo>
                    <a:pt x="8108536" y="1846897"/>
                  </a:lnTo>
                  <a:close/>
                </a:path>
              </a:pathLst>
            </a:custGeom>
            <a:solidFill>
              <a:srgbClr val="0029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83418" y="3108356"/>
            <a:ext cx="3644265" cy="12788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b="1" spc="-20" dirty="0">
                <a:solidFill>
                  <a:srgbClr val="EBECF0"/>
                </a:solidFill>
                <a:latin typeface="Arial"/>
                <a:cs typeface="Arial"/>
              </a:rPr>
              <a:t>Data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1800" b="1" dirty="0">
                <a:solidFill>
                  <a:srgbClr val="EBECF0"/>
                </a:solidFill>
                <a:latin typeface="Arial"/>
                <a:cs typeface="Arial"/>
              </a:rPr>
              <a:t>Particle:</a:t>
            </a:r>
            <a:r>
              <a:rPr sz="1800" b="1" spc="-15" dirty="0">
                <a:solidFill>
                  <a:srgbClr val="EBECF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x,</a:t>
            </a:r>
            <a:r>
              <a:rPr sz="1800" spc="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y,</a:t>
            </a:r>
            <a:r>
              <a:rPr sz="1800" spc="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dx,</a:t>
            </a:r>
            <a:r>
              <a:rPr sz="1800" spc="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dy,</a:t>
            </a:r>
            <a:r>
              <a:rPr sz="1800" spc="1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lifetime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1800" b="1" dirty="0">
                <a:solidFill>
                  <a:srgbClr val="EBECF0"/>
                </a:solidFill>
                <a:latin typeface="Arial"/>
                <a:cs typeface="Arial"/>
              </a:rPr>
              <a:t>BSTNode:</a:t>
            </a:r>
            <a:r>
              <a:rPr sz="1800" b="1" spc="-40" dirty="0">
                <a:solidFill>
                  <a:srgbClr val="EBECF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data</a:t>
            </a:r>
            <a:r>
              <a:rPr sz="1800" spc="-1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(Particle),</a:t>
            </a:r>
            <a:r>
              <a:rPr sz="1800" spc="-1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left,</a:t>
            </a:r>
            <a:r>
              <a:rPr sz="1800" spc="-1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right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248327" y="2863154"/>
            <a:ext cx="8223884" cy="1847214"/>
            <a:chOff x="9248327" y="2863154"/>
            <a:chExt cx="8223884" cy="1847214"/>
          </a:xfrm>
        </p:grpSpPr>
        <p:sp>
          <p:nvSpPr>
            <p:cNvPr id="9" name="object 9"/>
            <p:cNvSpPr/>
            <p:nvPr/>
          </p:nvSpPr>
          <p:spPr>
            <a:xfrm>
              <a:off x="9262615" y="2877442"/>
              <a:ext cx="8195309" cy="1818639"/>
            </a:xfrm>
            <a:custGeom>
              <a:avLst/>
              <a:gdLst/>
              <a:ahLst/>
              <a:cxnLst/>
              <a:rect l="l" t="t" r="r" b="b"/>
              <a:pathLst>
                <a:path w="8195309" h="1818639">
                  <a:moveTo>
                    <a:pt x="8094249" y="1818322"/>
                  </a:moveTo>
                  <a:lnTo>
                    <a:pt x="100869" y="1818322"/>
                  </a:lnTo>
                  <a:lnTo>
                    <a:pt x="61601" y="1810496"/>
                  </a:lnTo>
                  <a:lnTo>
                    <a:pt x="29539" y="1789151"/>
                  </a:lnTo>
                  <a:lnTo>
                    <a:pt x="7925" y="1757484"/>
                  </a:lnTo>
                  <a:lnTo>
                    <a:pt x="0" y="1718690"/>
                  </a:lnTo>
                  <a:lnTo>
                    <a:pt x="0" y="99631"/>
                  </a:lnTo>
                  <a:lnTo>
                    <a:pt x="7925" y="60837"/>
                  </a:lnTo>
                  <a:lnTo>
                    <a:pt x="29539" y="29170"/>
                  </a:lnTo>
                  <a:lnTo>
                    <a:pt x="61601" y="7825"/>
                  </a:lnTo>
                  <a:lnTo>
                    <a:pt x="100869" y="0"/>
                  </a:lnTo>
                  <a:lnTo>
                    <a:pt x="8094249" y="0"/>
                  </a:lnTo>
                  <a:lnTo>
                    <a:pt x="8133517" y="7825"/>
                  </a:lnTo>
                  <a:lnTo>
                    <a:pt x="8165579" y="29170"/>
                  </a:lnTo>
                  <a:lnTo>
                    <a:pt x="8187194" y="60837"/>
                  </a:lnTo>
                  <a:lnTo>
                    <a:pt x="8195119" y="99631"/>
                  </a:lnTo>
                  <a:lnTo>
                    <a:pt x="8195119" y="1718690"/>
                  </a:lnTo>
                  <a:lnTo>
                    <a:pt x="8187194" y="1757484"/>
                  </a:lnTo>
                  <a:lnTo>
                    <a:pt x="8165579" y="1789151"/>
                  </a:lnTo>
                  <a:lnTo>
                    <a:pt x="8133517" y="1810496"/>
                  </a:lnTo>
                  <a:lnTo>
                    <a:pt x="8094249" y="1818322"/>
                  </a:lnTo>
                  <a:close/>
                </a:path>
              </a:pathLst>
            </a:custGeom>
            <a:solidFill>
              <a:srgbClr val="0F1620">
                <a:alpha val="9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248327" y="2863154"/>
              <a:ext cx="8223884" cy="1847214"/>
            </a:xfrm>
            <a:custGeom>
              <a:avLst/>
              <a:gdLst/>
              <a:ahLst/>
              <a:cxnLst/>
              <a:rect l="l" t="t" r="r" b="b"/>
              <a:pathLst>
                <a:path w="8223884" h="1847214">
                  <a:moveTo>
                    <a:pt x="115146" y="1846897"/>
                  </a:moveTo>
                  <a:lnTo>
                    <a:pt x="114857" y="1846897"/>
                  </a:lnTo>
                  <a:lnTo>
                    <a:pt x="70401" y="1838018"/>
                  </a:lnTo>
                  <a:lnTo>
                    <a:pt x="33790" y="1813655"/>
                  </a:lnTo>
                  <a:lnTo>
                    <a:pt x="9072" y="1777433"/>
                  </a:lnTo>
                  <a:lnTo>
                    <a:pt x="0" y="1732978"/>
                  </a:lnTo>
                  <a:lnTo>
                    <a:pt x="0" y="113919"/>
                  </a:lnTo>
                  <a:lnTo>
                    <a:pt x="9072" y="69517"/>
                  </a:lnTo>
                  <a:lnTo>
                    <a:pt x="33790" y="33313"/>
                  </a:lnTo>
                  <a:lnTo>
                    <a:pt x="70401" y="8932"/>
                  </a:lnTo>
                  <a:lnTo>
                    <a:pt x="115157" y="0"/>
                  </a:lnTo>
                  <a:lnTo>
                    <a:pt x="8108537" y="0"/>
                  </a:lnTo>
                  <a:lnTo>
                    <a:pt x="8108537" y="14287"/>
                  </a:lnTo>
                  <a:lnTo>
                    <a:pt x="115157" y="14287"/>
                  </a:lnTo>
                  <a:lnTo>
                    <a:pt x="115157" y="28575"/>
                  </a:lnTo>
                  <a:lnTo>
                    <a:pt x="81376" y="35306"/>
                  </a:lnTo>
                  <a:lnTo>
                    <a:pt x="53864" y="53637"/>
                  </a:lnTo>
                  <a:lnTo>
                    <a:pt x="35352" y="80773"/>
                  </a:lnTo>
                  <a:lnTo>
                    <a:pt x="28575" y="113919"/>
                  </a:lnTo>
                  <a:lnTo>
                    <a:pt x="28575" y="1732978"/>
                  </a:lnTo>
                  <a:lnTo>
                    <a:pt x="35352" y="1766123"/>
                  </a:lnTo>
                  <a:lnTo>
                    <a:pt x="53864" y="1793259"/>
                  </a:lnTo>
                  <a:lnTo>
                    <a:pt x="81376" y="1811590"/>
                  </a:lnTo>
                  <a:lnTo>
                    <a:pt x="115157" y="1818322"/>
                  </a:lnTo>
                  <a:lnTo>
                    <a:pt x="8182788" y="1818322"/>
                  </a:lnTo>
                  <a:lnTo>
                    <a:pt x="8161333" y="1832609"/>
                  </a:lnTo>
                  <a:lnTo>
                    <a:pt x="115157" y="1832609"/>
                  </a:lnTo>
                  <a:lnTo>
                    <a:pt x="115146" y="1846897"/>
                  </a:lnTo>
                  <a:close/>
                </a:path>
                <a:path w="8223884" h="1847214">
                  <a:moveTo>
                    <a:pt x="8182788" y="1818322"/>
                  </a:moveTo>
                  <a:lnTo>
                    <a:pt x="8108537" y="1818322"/>
                  </a:lnTo>
                  <a:lnTo>
                    <a:pt x="8142318" y="1811590"/>
                  </a:lnTo>
                  <a:lnTo>
                    <a:pt x="8169830" y="1793259"/>
                  </a:lnTo>
                  <a:lnTo>
                    <a:pt x="8188341" y="1766123"/>
                  </a:lnTo>
                  <a:lnTo>
                    <a:pt x="8195119" y="1732978"/>
                  </a:lnTo>
                  <a:lnTo>
                    <a:pt x="8195119" y="113919"/>
                  </a:lnTo>
                  <a:lnTo>
                    <a:pt x="8188341" y="80773"/>
                  </a:lnTo>
                  <a:lnTo>
                    <a:pt x="8169830" y="53637"/>
                  </a:lnTo>
                  <a:lnTo>
                    <a:pt x="8142318" y="35306"/>
                  </a:lnTo>
                  <a:lnTo>
                    <a:pt x="8108537" y="28575"/>
                  </a:lnTo>
                  <a:lnTo>
                    <a:pt x="115157" y="28575"/>
                  </a:lnTo>
                  <a:lnTo>
                    <a:pt x="115157" y="14287"/>
                  </a:lnTo>
                  <a:lnTo>
                    <a:pt x="8108537" y="14287"/>
                  </a:lnTo>
                  <a:lnTo>
                    <a:pt x="8108537" y="0"/>
                  </a:lnTo>
                  <a:lnTo>
                    <a:pt x="8153292" y="8932"/>
                  </a:lnTo>
                  <a:lnTo>
                    <a:pt x="8189904" y="33313"/>
                  </a:lnTo>
                  <a:lnTo>
                    <a:pt x="8214621" y="69517"/>
                  </a:lnTo>
                  <a:lnTo>
                    <a:pt x="8223694" y="113919"/>
                  </a:lnTo>
                  <a:lnTo>
                    <a:pt x="8223694" y="1732978"/>
                  </a:lnTo>
                  <a:lnTo>
                    <a:pt x="8216921" y="1766123"/>
                  </a:lnTo>
                  <a:lnTo>
                    <a:pt x="8214585" y="1777433"/>
                  </a:lnTo>
                  <a:lnTo>
                    <a:pt x="8191265" y="1811590"/>
                  </a:lnTo>
                  <a:lnTo>
                    <a:pt x="8189797" y="1813655"/>
                  </a:lnTo>
                  <a:lnTo>
                    <a:pt x="8182788" y="1818322"/>
                  </a:lnTo>
                  <a:close/>
                </a:path>
                <a:path w="8223884" h="1847214">
                  <a:moveTo>
                    <a:pt x="8108537" y="1846897"/>
                  </a:moveTo>
                  <a:lnTo>
                    <a:pt x="115157" y="1846897"/>
                  </a:lnTo>
                  <a:lnTo>
                    <a:pt x="115157" y="1832609"/>
                  </a:lnTo>
                  <a:lnTo>
                    <a:pt x="8108537" y="1832609"/>
                  </a:lnTo>
                  <a:lnTo>
                    <a:pt x="8108537" y="1846897"/>
                  </a:lnTo>
                  <a:close/>
                </a:path>
                <a:path w="8223884" h="1847214">
                  <a:moveTo>
                    <a:pt x="8108537" y="1846897"/>
                  </a:moveTo>
                  <a:lnTo>
                    <a:pt x="8108537" y="1832609"/>
                  </a:lnTo>
                  <a:lnTo>
                    <a:pt x="8161333" y="1832609"/>
                  </a:lnTo>
                  <a:lnTo>
                    <a:pt x="8153212" y="1838018"/>
                  </a:lnTo>
                  <a:lnTo>
                    <a:pt x="8153024" y="1838018"/>
                  </a:lnTo>
                  <a:lnTo>
                    <a:pt x="8108537" y="1846897"/>
                  </a:lnTo>
                  <a:close/>
                </a:path>
              </a:pathLst>
            </a:custGeom>
            <a:solidFill>
              <a:srgbClr val="0029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515722" y="3108356"/>
            <a:ext cx="4437380" cy="8280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b="1" spc="-10" dirty="0">
                <a:solidFill>
                  <a:srgbClr val="EBECF0"/>
                </a:solidFill>
                <a:latin typeface="Arial"/>
                <a:cs typeface="Arial"/>
              </a:rPr>
              <a:t>Operations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insertIntoBST,</a:t>
            </a:r>
            <a:r>
              <a:rPr sz="1800" spc="-6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inorderBSTRender,</a:t>
            </a:r>
            <a:r>
              <a:rPr sz="1800" spc="-6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freeBST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7612" y="5012047"/>
            <a:ext cx="287782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b="1" dirty="0">
                <a:solidFill>
                  <a:srgbClr val="F1F5FA"/>
                </a:solidFill>
                <a:latin typeface="Arial"/>
                <a:cs typeface="Arial"/>
              </a:rPr>
              <a:t>Core</a:t>
            </a:r>
            <a:r>
              <a:rPr sz="2750" b="1" spc="-55" dirty="0">
                <a:solidFill>
                  <a:srgbClr val="F1F5FA"/>
                </a:solidFill>
                <a:latin typeface="Arial"/>
                <a:cs typeface="Arial"/>
              </a:rPr>
              <a:t> </a:t>
            </a:r>
            <a:r>
              <a:rPr sz="2750" b="1" spc="-10" dirty="0">
                <a:solidFill>
                  <a:srgbClr val="F1F5FA"/>
                </a:solidFill>
                <a:latin typeface="Arial"/>
                <a:cs typeface="Arial"/>
              </a:rPr>
              <a:t>Operations:</a:t>
            </a:r>
            <a:endParaRPr sz="27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25549" y="5865316"/>
            <a:ext cx="16632555" cy="3397250"/>
            <a:chOff x="825549" y="5865316"/>
            <a:chExt cx="16632555" cy="3397250"/>
          </a:xfrm>
        </p:grpSpPr>
        <p:sp>
          <p:nvSpPr>
            <p:cNvPr id="14" name="object 14"/>
            <p:cNvSpPr/>
            <p:nvPr/>
          </p:nvSpPr>
          <p:spPr>
            <a:xfrm>
              <a:off x="825549" y="5865316"/>
              <a:ext cx="16632555" cy="3397250"/>
            </a:xfrm>
            <a:custGeom>
              <a:avLst/>
              <a:gdLst/>
              <a:ahLst/>
              <a:cxnLst/>
              <a:rect l="l" t="t" r="r" b="b"/>
              <a:pathLst>
                <a:path w="16632555" h="3397250">
                  <a:moveTo>
                    <a:pt x="104679" y="3396805"/>
                  </a:moveTo>
                  <a:lnTo>
                    <a:pt x="104441" y="3396805"/>
                  </a:lnTo>
                  <a:lnTo>
                    <a:pt x="63932" y="3388651"/>
                  </a:lnTo>
                  <a:lnTo>
                    <a:pt x="30658" y="3366290"/>
                  </a:lnTo>
                  <a:lnTo>
                    <a:pt x="8225" y="3333088"/>
                  </a:lnTo>
                  <a:lnTo>
                    <a:pt x="0" y="3292411"/>
                  </a:lnTo>
                  <a:lnTo>
                    <a:pt x="0" y="104394"/>
                  </a:lnTo>
                  <a:lnTo>
                    <a:pt x="8225" y="63771"/>
                  </a:lnTo>
                  <a:lnTo>
                    <a:pt x="30658" y="30587"/>
                  </a:lnTo>
                  <a:lnTo>
                    <a:pt x="63932" y="8207"/>
                  </a:lnTo>
                  <a:lnTo>
                    <a:pt x="104679" y="0"/>
                  </a:lnTo>
                  <a:lnTo>
                    <a:pt x="16532257" y="0"/>
                  </a:lnTo>
                  <a:lnTo>
                    <a:pt x="16532257" y="4762"/>
                  </a:lnTo>
                  <a:lnTo>
                    <a:pt x="104679" y="4762"/>
                  </a:lnTo>
                  <a:lnTo>
                    <a:pt x="104679" y="9525"/>
                  </a:lnTo>
                  <a:lnTo>
                    <a:pt x="37385" y="37314"/>
                  </a:lnTo>
                  <a:lnTo>
                    <a:pt x="9525" y="104394"/>
                  </a:lnTo>
                  <a:lnTo>
                    <a:pt x="9525" y="3292411"/>
                  </a:lnTo>
                  <a:lnTo>
                    <a:pt x="16999" y="3329336"/>
                  </a:lnTo>
                  <a:lnTo>
                    <a:pt x="37385" y="3359491"/>
                  </a:lnTo>
                  <a:lnTo>
                    <a:pt x="67630" y="3379824"/>
                  </a:lnTo>
                  <a:lnTo>
                    <a:pt x="104679" y="3387280"/>
                  </a:lnTo>
                  <a:lnTo>
                    <a:pt x="16574985" y="3387280"/>
                  </a:lnTo>
                  <a:lnTo>
                    <a:pt x="16572945" y="3388651"/>
                  </a:lnTo>
                  <a:lnTo>
                    <a:pt x="16572804" y="3388651"/>
                  </a:lnTo>
                  <a:lnTo>
                    <a:pt x="16555939" y="3392043"/>
                  </a:lnTo>
                  <a:lnTo>
                    <a:pt x="104679" y="3392043"/>
                  </a:lnTo>
                  <a:lnTo>
                    <a:pt x="104679" y="3396805"/>
                  </a:lnTo>
                  <a:close/>
                </a:path>
                <a:path w="16632555" h="3397250">
                  <a:moveTo>
                    <a:pt x="16574985" y="3387280"/>
                  </a:moveTo>
                  <a:lnTo>
                    <a:pt x="16532257" y="3387280"/>
                  </a:lnTo>
                  <a:lnTo>
                    <a:pt x="16569306" y="3379824"/>
                  </a:lnTo>
                  <a:lnTo>
                    <a:pt x="16599550" y="3359491"/>
                  </a:lnTo>
                  <a:lnTo>
                    <a:pt x="16619936" y="3329336"/>
                  </a:lnTo>
                  <a:lnTo>
                    <a:pt x="16627410" y="3292411"/>
                  </a:lnTo>
                  <a:lnTo>
                    <a:pt x="16627410" y="104394"/>
                  </a:lnTo>
                  <a:lnTo>
                    <a:pt x="16619936" y="67469"/>
                  </a:lnTo>
                  <a:lnTo>
                    <a:pt x="16599550" y="37314"/>
                  </a:lnTo>
                  <a:lnTo>
                    <a:pt x="16569306" y="16981"/>
                  </a:lnTo>
                  <a:lnTo>
                    <a:pt x="16532257" y="9525"/>
                  </a:lnTo>
                  <a:lnTo>
                    <a:pt x="104679" y="9525"/>
                  </a:lnTo>
                  <a:lnTo>
                    <a:pt x="104679" y="4762"/>
                  </a:lnTo>
                  <a:lnTo>
                    <a:pt x="16532257" y="4762"/>
                  </a:lnTo>
                  <a:lnTo>
                    <a:pt x="16532257" y="0"/>
                  </a:lnTo>
                  <a:lnTo>
                    <a:pt x="16573004" y="8207"/>
                  </a:lnTo>
                  <a:lnTo>
                    <a:pt x="16606278" y="30587"/>
                  </a:lnTo>
                  <a:lnTo>
                    <a:pt x="16628711" y="63771"/>
                  </a:lnTo>
                  <a:lnTo>
                    <a:pt x="16632213" y="81068"/>
                  </a:lnTo>
                  <a:lnTo>
                    <a:pt x="16632213" y="3315742"/>
                  </a:lnTo>
                  <a:lnTo>
                    <a:pt x="16628702" y="3333088"/>
                  </a:lnTo>
                  <a:lnTo>
                    <a:pt x="16606225" y="3366290"/>
                  </a:lnTo>
                  <a:lnTo>
                    <a:pt x="16574985" y="3387280"/>
                  </a:lnTo>
                  <a:close/>
                </a:path>
                <a:path w="16632555" h="3397250">
                  <a:moveTo>
                    <a:pt x="16532257" y="3396805"/>
                  </a:moveTo>
                  <a:lnTo>
                    <a:pt x="104670" y="3396805"/>
                  </a:lnTo>
                  <a:lnTo>
                    <a:pt x="104679" y="3392043"/>
                  </a:lnTo>
                  <a:lnTo>
                    <a:pt x="16532257" y="3392043"/>
                  </a:lnTo>
                  <a:lnTo>
                    <a:pt x="16532257" y="3396805"/>
                  </a:lnTo>
                  <a:close/>
                </a:path>
                <a:path w="16632555" h="3397250">
                  <a:moveTo>
                    <a:pt x="16532257" y="3396805"/>
                  </a:moveTo>
                  <a:lnTo>
                    <a:pt x="16532257" y="3392043"/>
                  </a:lnTo>
                  <a:lnTo>
                    <a:pt x="16555939" y="3392043"/>
                  </a:lnTo>
                  <a:lnTo>
                    <a:pt x="16532257" y="3396805"/>
                  </a:lnTo>
                  <a:close/>
                </a:path>
              </a:pathLst>
            </a:custGeom>
            <a:solidFill>
              <a:srgbClr val="FFFFFF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9837" y="5879603"/>
              <a:ext cx="16607790" cy="612140"/>
            </a:xfrm>
            <a:custGeom>
              <a:avLst/>
              <a:gdLst/>
              <a:ahLst/>
              <a:cxnLst/>
              <a:rect l="l" t="t" r="r" b="b"/>
              <a:pathLst>
                <a:path w="16607790" h="612139">
                  <a:moveTo>
                    <a:pt x="16607163" y="611981"/>
                  </a:moveTo>
                  <a:lnTo>
                    <a:pt x="0" y="611981"/>
                  </a:lnTo>
                  <a:lnTo>
                    <a:pt x="0" y="0"/>
                  </a:lnTo>
                  <a:lnTo>
                    <a:pt x="16607163" y="0"/>
                  </a:lnTo>
                  <a:lnTo>
                    <a:pt x="16607163" y="611981"/>
                  </a:lnTo>
                  <a:close/>
                </a:path>
              </a:pathLst>
            </a:custGeom>
            <a:solidFill>
              <a:srgbClr val="FFFFFF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064517" y="5994959"/>
            <a:ext cx="111252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0" dirty="0">
                <a:solidFill>
                  <a:srgbClr val="EBECF0"/>
                </a:solidFill>
                <a:latin typeface="Arial"/>
                <a:cs typeface="Arial"/>
              </a:rPr>
              <a:t>Operation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51748" y="5994959"/>
            <a:ext cx="129159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0" dirty="0">
                <a:solidFill>
                  <a:srgbClr val="EBECF0"/>
                </a:solidFill>
                <a:latin typeface="Arial"/>
                <a:cs typeface="Arial"/>
              </a:rPr>
              <a:t>Description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25450" y="5994959"/>
            <a:ext cx="126619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0" dirty="0">
                <a:solidFill>
                  <a:srgbClr val="EBECF0"/>
                </a:solidFill>
                <a:latin typeface="Arial"/>
                <a:cs typeface="Arial"/>
              </a:rPr>
              <a:t>Complexity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9837" y="6491584"/>
            <a:ext cx="16607790" cy="612140"/>
          </a:xfrm>
          <a:custGeom>
            <a:avLst/>
            <a:gdLst/>
            <a:ahLst/>
            <a:cxnLst/>
            <a:rect l="l" t="t" r="r" b="b"/>
            <a:pathLst>
              <a:path w="16607790" h="612140">
                <a:moveTo>
                  <a:pt x="16607163" y="611981"/>
                </a:moveTo>
                <a:lnTo>
                  <a:pt x="0" y="611981"/>
                </a:lnTo>
                <a:lnTo>
                  <a:pt x="0" y="0"/>
                </a:lnTo>
                <a:lnTo>
                  <a:pt x="16607163" y="0"/>
                </a:lnTo>
                <a:lnTo>
                  <a:pt x="16607163" y="611981"/>
                </a:lnTo>
                <a:close/>
              </a:path>
            </a:pathLst>
          </a:custGeom>
          <a:solidFill>
            <a:srgbClr val="000000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64517" y="6606940"/>
            <a:ext cx="157289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insertIntoBST()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51748" y="6606940"/>
            <a:ext cx="384937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Inserts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a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particle</a:t>
            </a:r>
            <a:r>
              <a:rPr sz="1800" spc="-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using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lifetime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as</a:t>
            </a:r>
            <a:r>
              <a:rPr sz="1800" spc="-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EBECF0"/>
                </a:solidFill>
                <a:latin typeface="Microsoft Sans Serif"/>
                <a:cs typeface="Microsoft Sans Serif"/>
              </a:rPr>
              <a:t>key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525450" y="6606940"/>
            <a:ext cx="277431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Avg: O(log</a:t>
            </a:r>
            <a:r>
              <a:rPr sz="1800" spc="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N),</a:t>
            </a:r>
            <a:r>
              <a:rPr sz="1800" spc="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Worst:</a:t>
            </a:r>
            <a:r>
              <a:rPr sz="1800" spc="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EBECF0"/>
                </a:solidFill>
                <a:latin typeface="Microsoft Sans Serif"/>
                <a:cs typeface="Microsoft Sans Serif"/>
              </a:rPr>
              <a:t>O(N)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9837" y="7103566"/>
            <a:ext cx="16607790" cy="612140"/>
          </a:xfrm>
          <a:custGeom>
            <a:avLst/>
            <a:gdLst/>
            <a:ahLst/>
            <a:cxnLst/>
            <a:rect l="l" t="t" r="r" b="b"/>
            <a:pathLst>
              <a:path w="16607790" h="612140">
                <a:moveTo>
                  <a:pt x="16607163" y="611981"/>
                </a:moveTo>
                <a:lnTo>
                  <a:pt x="0" y="611981"/>
                </a:lnTo>
                <a:lnTo>
                  <a:pt x="0" y="0"/>
                </a:lnTo>
                <a:lnTo>
                  <a:pt x="16607163" y="0"/>
                </a:lnTo>
                <a:lnTo>
                  <a:pt x="16607163" y="611981"/>
                </a:lnTo>
                <a:close/>
              </a:path>
            </a:pathLst>
          </a:custGeom>
          <a:solidFill>
            <a:srgbClr val="FFFFFF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064517" y="7218922"/>
            <a:ext cx="209740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inorderBSTRender()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51748" y="7218922"/>
            <a:ext cx="333756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Prints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particles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sorted</a:t>
            </a:r>
            <a:r>
              <a:rPr sz="1800" spc="-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by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 lifetime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525450" y="7218922"/>
            <a:ext cx="52387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" dirty="0">
                <a:solidFill>
                  <a:srgbClr val="EBECF0"/>
                </a:solidFill>
                <a:latin typeface="Microsoft Sans Serif"/>
                <a:cs typeface="Microsoft Sans Serif"/>
              </a:rPr>
              <a:t>O(N)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9837" y="7715547"/>
            <a:ext cx="16607790" cy="612140"/>
          </a:xfrm>
          <a:custGeom>
            <a:avLst/>
            <a:gdLst/>
            <a:ahLst/>
            <a:cxnLst/>
            <a:rect l="l" t="t" r="r" b="b"/>
            <a:pathLst>
              <a:path w="16607790" h="612140">
                <a:moveTo>
                  <a:pt x="16607163" y="611981"/>
                </a:moveTo>
                <a:lnTo>
                  <a:pt x="0" y="611981"/>
                </a:lnTo>
                <a:lnTo>
                  <a:pt x="0" y="0"/>
                </a:lnTo>
                <a:lnTo>
                  <a:pt x="16607163" y="0"/>
                </a:lnTo>
                <a:lnTo>
                  <a:pt x="16607163" y="611981"/>
                </a:lnTo>
                <a:close/>
              </a:path>
            </a:pathLst>
          </a:custGeom>
          <a:solidFill>
            <a:srgbClr val="000000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064517" y="7830903"/>
            <a:ext cx="102298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freeBST()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51748" y="7830903"/>
            <a:ext cx="276225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Frees all nodes 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recursively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525450" y="7830903"/>
            <a:ext cx="52387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0" dirty="0">
                <a:solidFill>
                  <a:srgbClr val="EBECF0"/>
                </a:solidFill>
                <a:latin typeface="Microsoft Sans Serif"/>
                <a:cs typeface="Microsoft Sans Serif"/>
              </a:rPr>
              <a:t>O(N)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9837" y="8327528"/>
            <a:ext cx="16609694" cy="920750"/>
          </a:xfrm>
          <a:custGeom>
            <a:avLst/>
            <a:gdLst/>
            <a:ahLst/>
            <a:cxnLst/>
            <a:rect l="l" t="t" r="r" b="b"/>
            <a:pathLst>
              <a:path w="16609694" h="920750">
                <a:moveTo>
                  <a:pt x="16609508" y="920353"/>
                </a:moveTo>
                <a:lnTo>
                  <a:pt x="0" y="920353"/>
                </a:lnTo>
                <a:lnTo>
                  <a:pt x="0" y="0"/>
                </a:lnTo>
                <a:lnTo>
                  <a:pt x="16609508" y="0"/>
                </a:lnTo>
                <a:lnTo>
                  <a:pt x="16609508" y="920353"/>
                </a:lnTo>
                <a:close/>
              </a:path>
            </a:pathLst>
          </a:custGeom>
          <a:solidFill>
            <a:srgbClr val="FFFFFF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064517" y="8442884"/>
            <a:ext cx="276225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renderParticlesUsingBST()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51748" y="8423758"/>
            <a:ext cx="6202680" cy="615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95"/>
              </a:spcBef>
            </a:pP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Builds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temporary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BST,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traverses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for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ordered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rendering,</a:t>
            </a:r>
            <a:r>
              <a:rPr sz="180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 frees memory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525450" y="8442884"/>
            <a:ext cx="164973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Avg:</a:t>
            </a:r>
            <a:r>
              <a:rPr sz="1800" spc="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O(N</a:t>
            </a:r>
            <a:r>
              <a:rPr sz="1800" spc="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EBECF0"/>
                </a:solidFill>
                <a:latin typeface="Microsoft Sans Serif"/>
                <a:cs typeface="Microsoft Sans Serif"/>
              </a:rPr>
              <a:t>log</a:t>
            </a:r>
            <a:r>
              <a:rPr sz="1800" spc="1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EBECF0"/>
                </a:solidFill>
                <a:latin typeface="Microsoft Sans Serif"/>
                <a:cs typeface="Microsoft Sans Serif"/>
              </a:rPr>
              <a:t>N)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038" y="1640394"/>
            <a:ext cx="8489315" cy="1686560"/>
          </a:xfrm>
          <a:custGeom>
            <a:avLst/>
            <a:gdLst/>
            <a:ahLst/>
            <a:cxnLst/>
            <a:rect l="l" t="t" r="r" b="b"/>
            <a:pathLst>
              <a:path w="8489315" h="1686560">
                <a:moveTo>
                  <a:pt x="8488972" y="21234"/>
                </a:moveTo>
                <a:lnTo>
                  <a:pt x="8487296" y="12979"/>
                </a:lnTo>
                <a:lnTo>
                  <a:pt x="8482736" y="6223"/>
                </a:lnTo>
                <a:lnTo>
                  <a:pt x="8475993" y="1663"/>
                </a:lnTo>
                <a:lnTo>
                  <a:pt x="8467725" y="0"/>
                </a:lnTo>
                <a:lnTo>
                  <a:pt x="8422526" y="0"/>
                </a:lnTo>
                <a:lnTo>
                  <a:pt x="66535" y="0"/>
                </a:lnTo>
                <a:lnTo>
                  <a:pt x="21247" y="0"/>
                </a:lnTo>
                <a:lnTo>
                  <a:pt x="12979" y="1663"/>
                </a:lnTo>
                <a:lnTo>
                  <a:pt x="6235" y="6223"/>
                </a:lnTo>
                <a:lnTo>
                  <a:pt x="1676" y="12979"/>
                </a:lnTo>
                <a:lnTo>
                  <a:pt x="0" y="21234"/>
                </a:lnTo>
                <a:lnTo>
                  <a:pt x="0" y="1665249"/>
                </a:lnTo>
                <a:lnTo>
                  <a:pt x="1676" y="1673517"/>
                </a:lnTo>
                <a:lnTo>
                  <a:pt x="6235" y="1680260"/>
                </a:lnTo>
                <a:lnTo>
                  <a:pt x="12979" y="1684820"/>
                </a:lnTo>
                <a:lnTo>
                  <a:pt x="21247" y="1686496"/>
                </a:lnTo>
                <a:lnTo>
                  <a:pt x="66471" y="1686496"/>
                </a:lnTo>
                <a:lnTo>
                  <a:pt x="8422526" y="1686509"/>
                </a:lnTo>
                <a:lnTo>
                  <a:pt x="8467725" y="1686496"/>
                </a:lnTo>
                <a:lnTo>
                  <a:pt x="8475993" y="1684820"/>
                </a:lnTo>
                <a:lnTo>
                  <a:pt x="8482736" y="1680260"/>
                </a:lnTo>
                <a:lnTo>
                  <a:pt x="8487296" y="1673517"/>
                </a:lnTo>
                <a:lnTo>
                  <a:pt x="8488972" y="1665249"/>
                </a:lnTo>
                <a:lnTo>
                  <a:pt x="8488972" y="21234"/>
                </a:lnTo>
                <a:close/>
              </a:path>
            </a:pathLst>
          </a:custGeom>
          <a:solidFill>
            <a:srgbClr val="1C23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319463" y="1640394"/>
            <a:ext cx="8489315" cy="1870710"/>
          </a:xfrm>
          <a:custGeom>
            <a:avLst/>
            <a:gdLst/>
            <a:ahLst/>
            <a:cxnLst/>
            <a:rect l="l" t="t" r="r" b="b"/>
            <a:pathLst>
              <a:path w="8489315" h="1870710">
                <a:moveTo>
                  <a:pt x="8488959" y="21234"/>
                </a:moveTo>
                <a:lnTo>
                  <a:pt x="8487296" y="12979"/>
                </a:lnTo>
                <a:lnTo>
                  <a:pt x="8482736" y="6223"/>
                </a:lnTo>
                <a:lnTo>
                  <a:pt x="8475980" y="1663"/>
                </a:lnTo>
                <a:lnTo>
                  <a:pt x="8467725" y="0"/>
                </a:lnTo>
                <a:lnTo>
                  <a:pt x="8422424" y="0"/>
                </a:lnTo>
                <a:lnTo>
                  <a:pt x="66522" y="0"/>
                </a:lnTo>
                <a:lnTo>
                  <a:pt x="21234" y="0"/>
                </a:lnTo>
                <a:lnTo>
                  <a:pt x="12979" y="1663"/>
                </a:lnTo>
                <a:lnTo>
                  <a:pt x="6223" y="6223"/>
                </a:lnTo>
                <a:lnTo>
                  <a:pt x="1676" y="12979"/>
                </a:lnTo>
                <a:lnTo>
                  <a:pt x="0" y="21234"/>
                </a:lnTo>
                <a:lnTo>
                  <a:pt x="0" y="1849462"/>
                </a:lnTo>
                <a:lnTo>
                  <a:pt x="1676" y="1857730"/>
                </a:lnTo>
                <a:lnTo>
                  <a:pt x="6223" y="1864474"/>
                </a:lnTo>
                <a:lnTo>
                  <a:pt x="12979" y="1869033"/>
                </a:lnTo>
                <a:lnTo>
                  <a:pt x="21234" y="1870710"/>
                </a:lnTo>
                <a:lnTo>
                  <a:pt x="66522" y="1870710"/>
                </a:lnTo>
                <a:lnTo>
                  <a:pt x="8422424" y="1870710"/>
                </a:lnTo>
                <a:lnTo>
                  <a:pt x="8467725" y="1870710"/>
                </a:lnTo>
                <a:lnTo>
                  <a:pt x="8475980" y="1869033"/>
                </a:lnTo>
                <a:lnTo>
                  <a:pt x="8482736" y="1864474"/>
                </a:lnTo>
                <a:lnTo>
                  <a:pt x="8487296" y="1857730"/>
                </a:lnTo>
                <a:lnTo>
                  <a:pt x="8488959" y="1849462"/>
                </a:lnTo>
                <a:lnTo>
                  <a:pt x="8488959" y="21234"/>
                </a:lnTo>
                <a:close/>
              </a:path>
            </a:pathLst>
          </a:custGeom>
          <a:solidFill>
            <a:srgbClr val="1C232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96043" y="2483644"/>
            <a:ext cx="17792065" cy="7574915"/>
            <a:chOff x="496043" y="2483644"/>
            <a:chExt cx="17792065" cy="75749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6043" y="2483644"/>
              <a:ext cx="3895724" cy="56197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7979" y="2575768"/>
              <a:ext cx="6048374" cy="5524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35778" y="2877858"/>
              <a:ext cx="7852221" cy="48291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7979" y="7867406"/>
              <a:ext cx="6924674" cy="219074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83343" y="306509"/>
            <a:ext cx="5476875" cy="497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750" dirty="0"/>
              <a:t>Input</a:t>
            </a:r>
            <a:r>
              <a:rPr sz="2750" spc="-40" dirty="0"/>
              <a:t> </a:t>
            </a:r>
            <a:r>
              <a:rPr sz="2750" dirty="0"/>
              <a:t>and</a:t>
            </a:r>
            <a:r>
              <a:rPr sz="2750" spc="-40" dirty="0"/>
              <a:t> </a:t>
            </a:r>
            <a:r>
              <a:rPr sz="2750" dirty="0"/>
              <a:t>Output</a:t>
            </a:r>
            <a:r>
              <a:rPr sz="2750" spc="-40" dirty="0"/>
              <a:t> </a:t>
            </a:r>
            <a:r>
              <a:rPr sz="2750" dirty="0"/>
              <a:t>Screenshots</a:t>
            </a:r>
            <a:r>
              <a:rPr sz="2750" spc="-30" dirty="0"/>
              <a:t> </a:t>
            </a:r>
            <a:r>
              <a:rPr sz="3100" b="0" spc="-70" dirty="0">
                <a:solidFill>
                  <a:srgbClr val="000000"/>
                </a:solidFill>
                <a:latin typeface="Webdings"/>
                <a:cs typeface="Webdings"/>
              </a:rPr>
              <a:t>🖥</a:t>
            </a:r>
            <a:endParaRPr sz="3100">
              <a:latin typeface="Webdings"/>
              <a:cs typeface="Web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3343" y="1174515"/>
            <a:ext cx="4484370" cy="2730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b="1" dirty="0">
                <a:solidFill>
                  <a:srgbClr val="6195FF"/>
                </a:solidFill>
                <a:latin typeface="Arial"/>
                <a:cs typeface="Arial"/>
              </a:rPr>
              <a:t>Functionality</a:t>
            </a:r>
            <a:r>
              <a:rPr sz="1600" b="1" spc="20" dirty="0">
                <a:solidFill>
                  <a:srgbClr val="6195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6195FF"/>
                </a:solidFill>
                <a:latin typeface="Arial"/>
                <a:cs typeface="Arial"/>
              </a:rPr>
              <a:t>1</a:t>
            </a:r>
            <a:r>
              <a:rPr sz="1600" b="1" spc="25" dirty="0">
                <a:solidFill>
                  <a:srgbClr val="6195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6195FF"/>
                </a:solidFill>
                <a:latin typeface="Arial"/>
                <a:cs typeface="Arial"/>
              </a:rPr>
              <a:t>&amp;</a:t>
            </a:r>
            <a:r>
              <a:rPr sz="1600" b="1" spc="25" dirty="0">
                <a:solidFill>
                  <a:srgbClr val="6195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6195FF"/>
                </a:solidFill>
                <a:latin typeface="Arial"/>
                <a:cs typeface="Arial"/>
              </a:rPr>
              <a:t>3:</a:t>
            </a:r>
            <a:r>
              <a:rPr sz="1600" b="1" spc="25" dirty="0">
                <a:solidFill>
                  <a:srgbClr val="6195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6195FF"/>
                </a:solidFill>
                <a:latin typeface="Arial"/>
                <a:cs typeface="Arial"/>
              </a:rPr>
              <a:t>Add</a:t>
            </a:r>
            <a:r>
              <a:rPr sz="1600" b="1" spc="25" dirty="0">
                <a:solidFill>
                  <a:srgbClr val="6195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6195FF"/>
                </a:solidFill>
                <a:latin typeface="Arial"/>
                <a:cs typeface="Arial"/>
              </a:rPr>
              <a:t>and</a:t>
            </a:r>
            <a:r>
              <a:rPr sz="1600" b="1" spc="25" dirty="0">
                <a:solidFill>
                  <a:srgbClr val="6195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6195FF"/>
                </a:solidFill>
                <a:latin typeface="Arial"/>
                <a:cs typeface="Arial"/>
              </a:rPr>
              <a:t>Update</a:t>
            </a:r>
            <a:r>
              <a:rPr sz="1600" b="1" spc="25" dirty="0">
                <a:solidFill>
                  <a:srgbClr val="6195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6195FF"/>
                </a:solidFill>
                <a:latin typeface="Arial"/>
                <a:cs typeface="Arial"/>
              </a:rPr>
              <a:t>Particles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8033" y="1693453"/>
            <a:ext cx="8180705" cy="387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95"/>
              </a:spcBef>
            </a:pP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Menu:</a:t>
            </a:r>
            <a:r>
              <a:rPr sz="1050" spc="10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1.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Add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ParticleEnter</a:t>
            </a:r>
            <a:r>
              <a:rPr sz="1050" spc="10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x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y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dx</a:t>
            </a:r>
            <a:r>
              <a:rPr sz="1050" spc="10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dy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lifetime: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100</a:t>
            </a:r>
            <a:r>
              <a:rPr sz="1050" spc="10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200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5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-5</a:t>
            </a:r>
            <a:r>
              <a:rPr sz="1050" spc="10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10Particle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added.Menu: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3.</a:t>
            </a:r>
            <a:r>
              <a:rPr sz="1050" spc="10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Update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EBECF0"/>
                </a:solidFill>
                <a:latin typeface="Consolas"/>
                <a:cs typeface="Consolas"/>
              </a:rPr>
              <a:t>ParticlesUpdating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particle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at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(100,200)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→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(105,195),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Lifetime: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9...Particles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EBECF0"/>
                </a:solidFill>
                <a:latin typeface="Consolas"/>
                <a:cs typeface="Consolas"/>
              </a:rPr>
              <a:t>updated.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13763" y="1174515"/>
            <a:ext cx="4897120" cy="2730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b="1" dirty="0">
                <a:solidFill>
                  <a:srgbClr val="77C8EB"/>
                </a:solidFill>
                <a:latin typeface="Arial"/>
                <a:cs typeface="Arial"/>
              </a:rPr>
              <a:t>Functionality</a:t>
            </a:r>
            <a:r>
              <a:rPr sz="1600" b="1" spc="25" dirty="0">
                <a:solidFill>
                  <a:srgbClr val="77C8E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77C8EB"/>
                </a:solidFill>
                <a:latin typeface="Arial"/>
                <a:cs typeface="Arial"/>
              </a:rPr>
              <a:t>2</a:t>
            </a:r>
            <a:r>
              <a:rPr sz="1600" b="1" spc="25" dirty="0">
                <a:solidFill>
                  <a:srgbClr val="77C8E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77C8EB"/>
                </a:solidFill>
                <a:latin typeface="Arial"/>
                <a:cs typeface="Arial"/>
              </a:rPr>
              <a:t>&amp;</a:t>
            </a:r>
            <a:r>
              <a:rPr sz="1600" b="1" spc="25" dirty="0">
                <a:solidFill>
                  <a:srgbClr val="77C8E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77C8EB"/>
                </a:solidFill>
                <a:latin typeface="Arial"/>
                <a:cs typeface="Arial"/>
              </a:rPr>
              <a:t>4:</a:t>
            </a:r>
            <a:r>
              <a:rPr sz="1600" b="1" spc="25" dirty="0">
                <a:solidFill>
                  <a:srgbClr val="77C8E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77C8EB"/>
                </a:solidFill>
                <a:latin typeface="Arial"/>
                <a:cs typeface="Arial"/>
              </a:rPr>
              <a:t>Delete</a:t>
            </a:r>
            <a:r>
              <a:rPr sz="1600" b="1" spc="25" dirty="0">
                <a:solidFill>
                  <a:srgbClr val="77C8E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77C8EB"/>
                </a:solidFill>
                <a:latin typeface="Arial"/>
                <a:cs typeface="Arial"/>
              </a:rPr>
              <a:t>and</a:t>
            </a:r>
            <a:r>
              <a:rPr sz="1600" b="1" spc="30" dirty="0">
                <a:solidFill>
                  <a:srgbClr val="77C8E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77C8EB"/>
                </a:solidFill>
                <a:latin typeface="Arial"/>
                <a:cs typeface="Arial"/>
              </a:rPr>
              <a:t>Render</a:t>
            </a:r>
            <a:r>
              <a:rPr sz="1600" b="1" spc="25" dirty="0">
                <a:solidFill>
                  <a:srgbClr val="77C8E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77C8EB"/>
                </a:solidFill>
                <a:latin typeface="Arial"/>
                <a:cs typeface="Arial"/>
              </a:rPr>
              <a:t>Using</a:t>
            </a:r>
            <a:r>
              <a:rPr sz="1600" b="1" spc="25" dirty="0">
                <a:solidFill>
                  <a:srgbClr val="77C8EB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77C8EB"/>
                </a:solidFill>
                <a:latin typeface="Arial"/>
                <a:cs typeface="Arial"/>
              </a:rPr>
              <a:t>BST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48451" y="1693453"/>
            <a:ext cx="7958455" cy="387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95"/>
              </a:spcBef>
            </a:pP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Menu:</a:t>
            </a:r>
            <a:r>
              <a:rPr sz="1050" spc="10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4.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Render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Using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BSTLifetime:</a:t>
            </a:r>
            <a:r>
              <a:rPr sz="1050" spc="10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5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|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Lifetime: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8</a:t>
            </a:r>
            <a:r>
              <a:rPr sz="1050" spc="10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|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Lifetime: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10Menu: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2.</a:t>
            </a:r>
            <a:r>
              <a:rPr sz="1050" spc="10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Delete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Particle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(Index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EBECF0"/>
                </a:solidFill>
                <a:latin typeface="Consolas"/>
                <a:cs typeface="Consolas"/>
              </a:rPr>
              <a:t>0)Removing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particle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at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(100,200),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Lifetime: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5Particle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deleted.Menu: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4.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Render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Using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BSTLifetime: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8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|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EBECF0"/>
                </a:solidFill>
                <a:latin typeface="Consolas"/>
                <a:cs typeface="Consolas"/>
              </a:rPr>
              <a:t>Lifetime:</a:t>
            </a:r>
            <a:r>
              <a:rPr sz="1050" spc="15" dirty="0">
                <a:solidFill>
                  <a:srgbClr val="EBECF0"/>
                </a:solidFill>
                <a:latin typeface="Consolas"/>
                <a:cs typeface="Consolas"/>
              </a:rPr>
              <a:t> </a:t>
            </a:r>
            <a:r>
              <a:rPr sz="1050" spc="-25" dirty="0">
                <a:solidFill>
                  <a:srgbClr val="EBECF0"/>
                </a:solidFill>
                <a:latin typeface="Consolas"/>
                <a:cs typeface="Consolas"/>
              </a:rPr>
              <a:t>10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dirty="0"/>
              <a:t>Concluding</a:t>
            </a:r>
            <a:r>
              <a:rPr spc="-20" dirty="0"/>
              <a:t> </a:t>
            </a:r>
            <a:r>
              <a:rPr dirty="0"/>
              <a:t>Remarks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Work</a:t>
            </a:r>
            <a:r>
              <a:rPr spc="-15" dirty="0"/>
              <a:t> </a:t>
            </a:r>
            <a:r>
              <a:rPr dirty="0"/>
              <a:t>Division</a:t>
            </a:r>
            <a:r>
              <a:rPr spc="-15" dirty="0"/>
              <a:t> </a:t>
            </a:r>
            <a:r>
              <a:rPr sz="4000" b="0" spc="455" dirty="0">
                <a:solidFill>
                  <a:srgbClr val="000000"/>
                </a:solidFill>
                <a:latin typeface="Times New Roman"/>
                <a:cs typeface="Times New Roman"/>
              </a:rPr>
              <a:t>🤝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3500" dirty="0">
                <a:solidFill>
                  <a:srgbClr val="6195FF"/>
                </a:solidFill>
              </a:rPr>
              <a:t>Concluding</a:t>
            </a:r>
            <a:r>
              <a:rPr sz="3500" spc="-90" dirty="0">
                <a:solidFill>
                  <a:srgbClr val="6195FF"/>
                </a:solidFill>
              </a:rPr>
              <a:t> </a:t>
            </a:r>
            <a:r>
              <a:rPr sz="3500" spc="-10" dirty="0">
                <a:solidFill>
                  <a:srgbClr val="6195FF"/>
                </a:solidFill>
              </a:rPr>
              <a:t>Remarks:</a:t>
            </a:r>
            <a:endParaRPr sz="3500"/>
          </a:p>
        </p:txBody>
      </p:sp>
      <p:grpSp>
        <p:nvGrpSpPr>
          <p:cNvPr id="3" name="object 3"/>
          <p:cNvGrpSpPr/>
          <p:nvPr/>
        </p:nvGrpSpPr>
        <p:grpSpPr>
          <a:xfrm>
            <a:off x="770483" y="2427089"/>
            <a:ext cx="520700" cy="520700"/>
            <a:chOff x="770483" y="2427089"/>
            <a:chExt cx="520700" cy="520700"/>
          </a:xfrm>
        </p:grpSpPr>
        <p:sp>
          <p:nvSpPr>
            <p:cNvPr id="4" name="object 4"/>
            <p:cNvSpPr/>
            <p:nvPr/>
          </p:nvSpPr>
          <p:spPr>
            <a:xfrm>
              <a:off x="780008" y="2436614"/>
              <a:ext cx="501650" cy="501650"/>
            </a:xfrm>
            <a:custGeom>
              <a:avLst/>
              <a:gdLst/>
              <a:ahLst/>
              <a:cxnLst/>
              <a:rect l="l" t="t" r="r" b="b"/>
              <a:pathLst>
                <a:path w="501650" h="501650">
                  <a:moveTo>
                    <a:pt x="407765" y="501395"/>
                  </a:moveTo>
                  <a:lnTo>
                    <a:pt x="93630" y="501395"/>
                  </a:lnTo>
                  <a:lnTo>
                    <a:pt x="57181" y="494039"/>
                  </a:lnTo>
                  <a:lnTo>
                    <a:pt x="27420" y="473975"/>
                  </a:lnTo>
                  <a:lnTo>
                    <a:pt x="7356" y="444214"/>
                  </a:lnTo>
                  <a:lnTo>
                    <a:pt x="0" y="407765"/>
                  </a:lnTo>
                  <a:lnTo>
                    <a:pt x="0" y="93630"/>
                  </a:lnTo>
                  <a:lnTo>
                    <a:pt x="7356" y="57181"/>
                  </a:lnTo>
                  <a:lnTo>
                    <a:pt x="27420" y="27420"/>
                  </a:lnTo>
                  <a:lnTo>
                    <a:pt x="57181" y="7356"/>
                  </a:lnTo>
                  <a:lnTo>
                    <a:pt x="93630" y="0"/>
                  </a:lnTo>
                  <a:lnTo>
                    <a:pt x="407765" y="0"/>
                  </a:lnTo>
                  <a:lnTo>
                    <a:pt x="444214" y="7356"/>
                  </a:lnTo>
                  <a:lnTo>
                    <a:pt x="473975" y="27420"/>
                  </a:lnTo>
                  <a:lnTo>
                    <a:pt x="494039" y="57181"/>
                  </a:lnTo>
                  <a:lnTo>
                    <a:pt x="501395" y="93630"/>
                  </a:lnTo>
                  <a:lnTo>
                    <a:pt x="501395" y="407765"/>
                  </a:lnTo>
                  <a:lnTo>
                    <a:pt x="494039" y="444214"/>
                  </a:lnTo>
                  <a:lnTo>
                    <a:pt x="473975" y="473975"/>
                  </a:lnTo>
                  <a:lnTo>
                    <a:pt x="444214" y="494039"/>
                  </a:lnTo>
                  <a:lnTo>
                    <a:pt x="407765" y="501395"/>
                  </a:lnTo>
                  <a:close/>
                </a:path>
              </a:pathLst>
            </a:custGeom>
            <a:solidFill>
              <a:srgbClr val="0F16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0483" y="2427089"/>
              <a:ext cx="520700" cy="520700"/>
            </a:xfrm>
            <a:custGeom>
              <a:avLst/>
              <a:gdLst/>
              <a:ahLst/>
              <a:cxnLst/>
              <a:rect l="l" t="t" r="r" b="b"/>
              <a:pathLst>
                <a:path w="520700" h="520700">
                  <a:moveTo>
                    <a:pt x="103155" y="520446"/>
                  </a:moveTo>
                  <a:lnTo>
                    <a:pt x="63007" y="512337"/>
                  </a:lnTo>
                  <a:lnTo>
                    <a:pt x="30218" y="490227"/>
                  </a:lnTo>
                  <a:lnTo>
                    <a:pt x="8108" y="457438"/>
                  </a:lnTo>
                  <a:lnTo>
                    <a:pt x="0" y="417290"/>
                  </a:lnTo>
                  <a:lnTo>
                    <a:pt x="0" y="103155"/>
                  </a:lnTo>
                  <a:lnTo>
                    <a:pt x="8108" y="63007"/>
                  </a:lnTo>
                  <a:lnTo>
                    <a:pt x="30218" y="30218"/>
                  </a:lnTo>
                  <a:lnTo>
                    <a:pt x="63007" y="8108"/>
                  </a:lnTo>
                  <a:lnTo>
                    <a:pt x="103155" y="0"/>
                  </a:lnTo>
                  <a:lnTo>
                    <a:pt x="417290" y="0"/>
                  </a:lnTo>
                  <a:lnTo>
                    <a:pt x="417290" y="9525"/>
                  </a:lnTo>
                  <a:lnTo>
                    <a:pt x="103155" y="9525"/>
                  </a:lnTo>
                  <a:lnTo>
                    <a:pt x="103155" y="19050"/>
                  </a:lnTo>
                  <a:lnTo>
                    <a:pt x="70404" y="25655"/>
                  </a:lnTo>
                  <a:lnTo>
                    <a:pt x="43672" y="43672"/>
                  </a:lnTo>
                  <a:lnTo>
                    <a:pt x="25655" y="70404"/>
                  </a:lnTo>
                  <a:lnTo>
                    <a:pt x="19050" y="103155"/>
                  </a:lnTo>
                  <a:lnTo>
                    <a:pt x="19050" y="417290"/>
                  </a:lnTo>
                  <a:lnTo>
                    <a:pt x="25655" y="450041"/>
                  </a:lnTo>
                  <a:lnTo>
                    <a:pt x="43672" y="476773"/>
                  </a:lnTo>
                  <a:lnTo>
                    <a:pt x="70404" y="494791"/>
                  </a:lnTo>
                  <a:lnTo>
                    <a:pt x="103155" y="501396"/>
                  </a:lnTo>
                  <a:lnTo>
                    <a:pt x="473665" y="501396"/>
                  </a:lnTo>
                  <a:lnTo>
                    <a:pt x="459539" y="510921"/>
                  </a:lnTo>
                  <a:lnTo>
                    <a:pt x="103155" y="510921"/>
                  </a:lnTo>
                  <a:lnTo>
                    <a:pt x="103155" y="520446"/>
                  </a:lnTo>
                  <a:close/>
                </a:path>
                <a:path w="520700" h="520700">
                  <a:moveTo>
                    <a:pt x="473665" y="501396"/>
                  </a:moveTo>
                  <a:lnTo>
                    <a:pt x="417290" y="501396"/>
                  </a:lnTo>
                  <a:lnTo>
                    <a:pt x="450041" y="494791"/>
                  </a:lnTo>
                  <a:lnTo>
                    <a:pt x="476773" y="476773"/>
                  </a:lnTo>
                  <a:lnTo>
                    <a:pt x="494791" y="450041"/>
                  </a:lnTo>
                  <a:lnTo>
                    <a:pt x="501396" y="417290"/>
                  </a:lnTo>
                  <a:lnTo>
                    <a:pt x="501396" y="103155"/>
                  </a:lnTo>
                  <a:lnTo>
                    <a:pt x="494791" y="70404"/>
                  </a:lnTo>
                  <a:lnTo>
                    <a:pt x="476773" y="43672"/>
                  </a:lnTo>
                  <a:lnTo>
                    <a:pt x="450041" y="25655"/>
                  </a:lnTo>
                  <a:lnTo>
                    <a:pt x="417290" y="19050"/>
                  </a:lnTo>
                  <a:lnTo>
                    <a:pt x="103155" y="19050"/>
                  </a:lnTo>
                  <a:lnTo>
                    <a:pt x="103155" y="9525"/>
                  </a:lnTo>
                  <a:lnTo>
                    <a:pt x="417290" y="9525"/>
                  </a:lnTo>
                  <a:lnTo>
                    <a:pt x="417290" y="0"/>
                  </a:lnTo>
                  <a:lnTo>
                    <a:pt x="457438" y="8108"/>
                  </a:lnTo>
                  <a:lnTo>
                    <a:pt x="490227" y="30218"/>
                  </a:lnTo>
                  <a:lnTo>
                    <a:pt x="512337" y="63007"/>
                  </a:lnTo>
                  <a:lnTo>
                    <a:pt x="520452" y="103155"/>
                  </a:lnTo>
                  <a:lnTo>
                    <a:pt x="520452" y="417290"/>
                  </a:lnTo>
                  <a:lnTo>
                    <a:pt x="512337" y="457438"/>
                  </a:lnTo>
                  <a:lnTo>
                    <a:pt x="490227" y="490227"/>
                  </a:lnTo>
                  <a:lnTo>
                    <a:pt x="473665" y="501396"/>
                  </a:lnTo>
                  <a:close/>
                </a:path>
                <a:path w="520700" h="520700">
                  <a:moveTo>
                    <a:pt x="417290" y="520446"/>
                  </a:moveTo>
                  <a:lnTo>
                    <a:pt x="103155" y="520446"/>
                  </a:lnTo>
                  <a:lnTo>
                    <a:pt x="103155" y="510921"/>
                  </a:lnTo>
                  <a:lnTo>
                    <a:pt x="417290" y="510921"/>
                  </a:lnTo>
                  <a:lnTo>
                    <a:pt x="417290" y="520446"/>
                  </a:lnTo>
                  <a:close/>
                </a:path>
                <a:path w="520700" h="520700">
                  <a:moveTo>
                    <a:pt x="417290" y="520446"/>
                  </a:moveTo>
                  <a:lnTo>
                    <a:pt x="417290" y="510921"/>
                  </a:lnTo>
                  <a:lnTo>
                    <a:pt x="459539" y="510921"/>
                  </a:lnTo>
                  <a:lnTo>
                    <a:pt x="457438" y="512337"/>
                  </a:lnTo>
                  <a:lnTo>
                    <a:pt x="417290" y="520446"/>
                  </a:lnTo>
                  <a:close/>
                </a:path>
              </a:pathLst>
            </a:custGeom>
            <a:solidFill>
              <a:srgbClr val="0029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91506" y="2507537"/>
            <a:ext cx="747331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Demonstrates</a:t>
            </a:r>
            <a:r>
              <a:rPr sz="1750" spc="-4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effective</a:t>
            </a:r>
            <a:r>
              <a:rPr sz="1750" spc="-4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use</a:t>
            </a:r>
            <a:r>
              <a:rPr sz="1750" spc="-3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of</a:t>
            </a:r>
            <a:r>
              <a:rPr sz="1750" spc="-4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Doubly</a:t>
            </a:r>
            <a:r>
              <a:rPr sz="1750" spc="-3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Linked</a:t>
            </a:r>
            <a:r>
              <a:rPr sz="1750" spc="-4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List</a:t>
            </a:r>
            <a:r>
              <a:rPr sz="1750" spc="-3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for</a:t>
            </a:r>
            <a:r>
              <a:rPr sz="1750" spc="-4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dynamic</a:t>
            </a:r>
            <a:r>
              <a:rPr sz="1750" spc="-3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management.</a:t>
            </a:r>
            <a:endParaRPr sz="175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273627" y="2427089"/>
            <a:ext cx="520700" cy="520700"/>
            <a:chOff x="9273627" y="2427089"/>
            <a:chExt cx="520700" cy="520700"/>
          </a:xfrm>
        </p:grpSpPr>
        <p:sp>
          <p:nvSpPr>
            <p:cNvPr id="8" name="object 8"/>
            <p:cNvSpPr/>
            <p:nvPr/>
          </p:nvSpPr>
          <p:spPr>
            <a:xfrm>
              <a:off x="9283153" y="2436614"/>
              <a:ext cx="501650" cy="501650"/>
            </a:xfrm>
            <a:custGeom>
              <a:avLst/>
              <a:gdLst/>
              <a:ahLst/>
              <a:cxnLst/>
              <a:rect l="l" t="t" r="r" b="b"/>
              <a:pathLst>
                <a:path w="501650" h="501650">
                  <a:moveTo>
                    <a:pt x="407765" y="501395"/>
                  </a:moveTo>
                  <a:lnTo>
                    <a:pt x="93630" y="501395"/>
                  </a:lnTo>
                  <a:lnTo>
                    <a:pt x="57181" y="494039"/>
                  </a:lnTo>
                  <a:lnTo>
                    <a:pt x="27420" y="473975"/>
                  </a:lnTo>
                  <a:lnTo>
                    <a:pt x="7356" y="444214"/>
                  </a:lnTo>
                  <a:lnTo>
                    <a:pt x="0" y="407765"/>
                  </a:lnTo>
                  <a:lnTo>
                    <a:pt x="0" y="93630"/>
                  </a:lnTo>
                  <a:lnTo>
                    <a:pt x="7356" y="57181"/>
                  </a:lnTo>
                  <a:lnTo>
                    <a:pt x="27420" y="27420"/>
                  </a:lnTo>
                  <a:lnTo>
                    <a:pt x="57181" y="7356"/>
                  </a:lnTo>
                  <a:lnTo>
                    <a:pt x="93630" y="0"/>
                  </a:lnTo>
                  <a:lnTo>
                    <a:pt x="407765" y="0"/>
                  </a:lnTo>
                  <a:lnTo>
                    <a:pt x="444214" y="7356"/>
                  </a:lnTo>
                  <a:lnTo>
                    <a:pt x="473975" y="27420"/>
                  </a:lnTo>
                  <a:lnTo>
                    <a:pt x="494039" y="57181"/>
                  </a:lnTo>
                  <a:lnTo>
                    <a:pt x="501395" y="93630"/>
                  </a:lnTo>
                  <a:lnTo>
                    <a:pt x="501395" y="407765"/>
                  </a:lnTo>
                  <a:lnTo>
                    <a:pt x="494039" y="444214"/>
                  </a:lnTo>
                  <a:lnTo>
                    <a:pt x="473975" y="473975"/>
                  </a:lnTo>
                  <a:lnTo>
                    <a:pt x="444214" y="494039"/>
                  </a:lnTo>
                  <a:lnTo>
                    <a:pt x="407765" y="501395"/>
                  </a:lnTo>
                  <a:close/>
                </a:path>
              </a:pathLst>
            </a:custGeom>
            <a:solidFill>
              <a:srgbClr val="0F16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273627" y="2427089"/>
              <a:ext cx="520700" cy="520700"/>
            </a:xfrm>
            <a:custGeom>
              <a:avLst/>
              <a:gdLst/>
              <a:ahLst/>
              <a:cxnLst/>
              <a:rect l="l" t="t" r="r" b="b"/>
              <a:pathLst>
                <a:path w="520700" h="520700">
                  <a:moveTo>
                    <a:pt x="103155" y="520446"/>
                  </a:moveTo>
                  <a:lnTo>
                    <a:pt x="63008" y="512337"/>
                  </a:lnTo>
                  <a:lnTo>
                    <a:pt x="30218" y="490227"/>
                  </a:lnTo>
                  <a:lnTo>
                    <a:pt x="8108" y="457438"/>
                  </a:lnTo>
                  <a:lnTo>
                    <a:pt x="0" y="417290"/>
                  </a:lnTo>
                  <a:lnTo>
                    <a:pt x="0" y="103155"/>
                  </a:lnTo>
                  <a:lnTo>
                    <a:pt x="8108" y="63007"/>
                  </a:lnTo>
                  <a:lnTo>
                    <a:pt x="30218" y="30218"/>
                  </a:lnTo>
                  <a:lnTo>
                    <a:pt x="63008" y="8108"/>
                  </a:lnTo>
                  <a:lnTo>
                    <a:pt x="103155" y="0"/>
                  </a:lnTo>
                  <a:lnTo>
                    <a:pt x="417290" y="0"/>
                  </a:lnTo>
                  <a:lnTo>
                    <a:pt x="417290" y="9525"/>
                  </a:lnTo>
                  <a:lnTo>
                    <a:pt x="103155" y="9525"/>
                  </a:lnTo>
                  <a:lnTo>
                    <a:pt x="103155" y="19050"/>
                  </a:lnTo>
                  <a:lnTo>
                    <a:pt x="70404" y="25655"/>
                  </a:lnTo>
                  <a:lnTo>
                    <a:pt x="43672" y="43672"/>
                  </a:lnTo>
                  <a:lnTo>
                    <a:pt x="25655" y="70404"/>
                  </a:lnTo>
                  <a:lnTo>
                    <a:pt x="19050" y="103155"/>
                  </a:lnTo>
                  <a:lnTo>
                    <a:pt x="19050" y="417290"/>
                  </a:lnTo>
                  <a:lnTo>
                    <a:pt x="25655" y="450041"/>
                  </a:lnTo>
                  <a:lnTo>
                    <a:pt x="43672" y="476773"/>
                  </a:lnTo>
                  <a:lnTo>
                    <a:pt x="70404" y="494791"/>
                  </a:lnTo>
                  <a:lnTo>
                    <a:pt x="103155" y="501396"/>
                  </a:lnTo>
                  <a:lnTo>
                    <a:pt x="473665" y="501396"/>
                  </a:lnTo>
                  <a:lnTo>
                    <a:pt x="459539" y="510921"/>
                  </a:lnTo>
                  <a:lnTo>
                    <a:pt x="103155" y="510921"/>
                  </a:lnTo>
                  <a:lnTo>
                    <a:pt x="103155" y="520446"/>
                  </a:lnTo>
                  <a:close/>
                </a:path>
                <a:path w="520700" h="520700">
                  <a:moveTo>
                    <a:pt x="473665" y="501396"/>
                  </a:moveTo>
                  <a:lnTo>
                    <a:pt x="417290" y="501396"/>
                  </a:lnTo>
                  <a:lnTo>
                    <a:pt x="450041" y="494791"/>
                  </a:lnTo>
                  <a:lnTo>
                    <a:pt x="476774" y="476773"/>
                  </a:lnTo>
                  <a:lnTo>
                    <a:pt x="494791" y="450041"/>
                  </a:lnTo>
                  <a:lnTo>
                    <a:pt x="501396" y="417290"/>
                  </a:lnTo>
                  <a:lnTo>
                    <a:pt x="501396" y="103155"/>
                  </a:lnTo>
                  <a:lnTo>
                    <a:pt x="494791" y="70404"/>
                  </a:lnTo>
                  <a:lnTo>
                    <a:pt x="476774" y="43672"/>
                  </a:lnTo>
                  <a:lnTo>
                    <a:pt x="450041" y="25655"/>
                  </a:lnTo>
                  <a:lnTo>
                    <a:pt x="417290" y="19050"/>
                  </a:lnTo>
                  <a:lnTo>
                    <a:pt x="103155" y="19050"/>
                  </a:lnTo>
                  <a:lnTo>
                    <a:pt x="103155" y="9525"/>
                  </a:lnTo>
                  <a:lnTo>
                    <a:pt x="417290" y="9525"/>
                  </a:lnTo>
                  <a:lnTo>
                    <a:pt x="417290" y="0"/>
                  </a:lnTo>
                  <a:lnTo>
                    <a:pt x="457438" y="8108"/>
                  </a:lnTo>
                  <a:lnTo>
                    <a:pt x="490228" y="30218"/>
                  </a:lnTo>
                  <a:lnTo>
                    <a:pt x="512338" y="63007"/>
                  </a:lnTo>
                  <a:lnTo>
                    <a:pt x="520452" y="103155"/>
                  </a:lnTo>
                  <a:lnTo>
                    <a:pt x="520452" y="417290"/>
                  </a:lnTo>
                  <a:lnTo>
                    <a:pt x="512338" y="457438"/>
                  </a:lnTo>
                  <a:lnTo>
                    <a:pt x="490228" y="490227"/>
                  </a:lnTo>
                  <a:lnTo>
                    <a:pt x="473665" y="501396"/>
                  </a:lnTo>
                  <a:close/>
                </a:path>
                <a:path w="520700" h="520700">
                  <a:moveTo>
                    <a:pt x="417290" y="520446"/>
                  </a:moveTo>
                  <a:lnTo>
                    <a:pt x="103155" y="520446"/>
                  </a:lnTo>
                  <a:lnTo>
                    <a:pt x="103155" y="510921"/>
                  </a:lnTo>
                  <a:lnTo>
                    <a:pt x="417290" y="510921"/>
                  </a:lnTo>
                  <a:lnTo>
                    <a:pt x="417290" y="520446"/>
                  </a:lnTo>
                  <a:close/>
                </a:path>
                <a:path w="520700" h="520700">
                  <a:moveTo>
                    <a:pt x="417290" y="520446"/>
                  </a:moveTo>
                  <a:lnTo>
                    <a:pt x="417290" y="510921"/>
                  </a:lnTo>
                  <a:lnTo>
                    <a:pt x="459539" y="510921"/>
                  </a:lnTo>
                  <a:lnTo>
                    <a:pt x="457438" y="512337"/>
                  </a:lnTo>
                  <a:lnTo>
                    <a:pt x="417290" y="520446"/>
                  </a:lnTo>
                  <a:close/>
                </a:path>
              </a:pathLst>
            </a:custGeom>
            <a:solidFill>
              <a:srgbClr val="0029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994651" y="2507537"/>
            <a:ext cx="521271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Implements</a:t>
            </a:r>
            <a:r>
              <a:rPr sz="1750" spc="-4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Binary</a:t>
            </a:r>
            <a:r>
              <a:rPr sz="1750" spc="-4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Search</a:t>
            </a:r>
            <a:r>
              <a:rPr sz="1750" spc="-4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Tree</a:t>
            </a:r>
            <a:r>
              <a:rPr sz="1750" spc="-4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for</a:t>
            </a:r>
            <a:r>
              <a:rPr sz="1750" spc="-4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sorted</a:t>
            </a:r>
            <a:r>
              <a:rPr sz="1750" spc="-3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rendering.</a:t>
            </a:r>
            <a:endParaRPr sz="175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0483" y="3558182"/>
            <a:ext cx="520700" cy="520700"/>
            <a:chOff x="770483" y="3558182"/>
            <a:chExt cx="520700" cy="520700"/>
          </a:xfrm>
        </p:grpSpPr>
        <p:sp>
          <p:nvSpPr>
            <p:cNvPr id="12" name="object 12"/>
            <p:cNvSpPr/>
            <p:nvPr/>
          </p:nvSpPr>
          <p:spPr>
            <a:xfrm>
              <a:off x="780008" y="3567707"/>
              <a:ext cx="501650" cy="501650"/>
            </a:xfrm>
            <a:custGeom>
              <a:avLst/>
              <a:gdLst/>
              <a:ahLst/>
              <a:cxnLst/>
              <a:rect l="l" t="t" r="r" b="b"/>
              <a:pathLst>
                <a:path w="501650" h="501650">
                  <a:moveTo>
                    <a:pt x="407765" y="501395"/>
                  </a:moveTo>
                  <a:lnTo>
                    <a:pt x="93630" y="501395"/>
                  </a:lnTo>
                  <a:lnTo>
                    <a:pt x="57181" y="494039"/>
                  </a:lnTo>
                  <a:lnTo>
                    <a:pt x="27420" y="473975"/>
                  </a:lnTo>
                  <a:lnTo>
                    <a:pt x="7356" y="444214"/>
                  </a:lnTo>
                  <a:lnTo>
                    <a:pt x="0" y="407765"/>
                  </a:lnTo>
                  <a:lnTo>
                    <a:pt x="0" y="93630"/>
                  </a:lnTo>
                  <a:lnTo>
                    <a:pt x="7356" y="57181"/>
                  </a:lnTo>
                  <a:lnTo>
                    <a:pt x="27420" y="27420"/>
                  </a:lnTo>
                  <a:lnTo>
                    <a:pt x="57181" y="7356"/>
                  </a:lnTo>
                  <a:lnTo>
                    <a:pt x="93630" y="0"/>
                  </a:lnTo>
                  <a:lnTo>
                    <a:pt x="407765" y="0"/>
                  </a:lnTo>
                  <a:lnTo>
                    <a:pt x="444214" y="7356"/>
                  </a:lnTo>
                  <a:lnTo>
                    <a:pt x="473975" y="27420"/>
                  </a:lnTo>
                  <a:lnTo>
                    <a:pt x="494039" y="57181"/>
                  </a:lnTo>
                  <a:lnTo>
                    <a:pt x="501395" y="93630"/>
                  </a:lnTo>
                  <a:lnTo>
                    <a:pt x="501395" y="407765"/>
                  </a:lnTo>
                  <a:lnTo>
                    <a:pt x="494039" y="444214"/>
                  </a:lnTo>
                  <a:lnTo>
                    <a:pt x="473975" y="473975"/>
                  </a:lnTo>
                  <a:lnTo>
                    <a:pt x="444214" y="494039"/>
                  </a:lnTo>
                  <a:lnTo>
                    <a:pt x="407765" y="501395"/>
                  </a:lnTo>
                  <a:close/>
                </a:path>
              </a:pathLst>
            </a:custGeom>
            <a:solidFill>
              <a:srgbClr val="0F16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0483" y="3558182"/>
              <a:ext cx="520700" cy="520700"/>
            </a:xfrm>
            <a:custGeom>
              <a:avLst/>
              <a:gdLst/>
              <a:ahLst/>
              <a:cxnLst/>
              <a:rect l="l" t="t" r="r" b="b"/>
              <a:pathLst>
                <a:path w="520700" h="520700">
                  <a:moveTo>
                    <a:pt x="103155" y="520446"/>
                  </a:moveTo>
                  <a:lnTo>
                    <a:pt x="63007" y="512337"/>
                  </a:lnTo>
                  <a:lnTo>
                    <a:pt x="30218" y="490228"/>
                  </a:lnTo>
                  <a:lnTo>
                    <a:pt x="8108" y="457438"/>
                  </a:lnTo>
                  <a:lnTo>
                    <a:pt x="0" y="417290"/>
                  </a:lnTo>
                  <a:lnTo>
                    <a:pt x="0" y="103155"/>
                  </a:lnTo>
                  <a:lnTo>
                    <a:pt x="8108" y="63007"/>
                  </a:lnTo>
                  <a:lnTo>
                    <a:pt x="30218" y="30218"/>
                  </a:lnTo>
                  <a:lnTo>
                    <a:pt x="63007" y="8108"/>
                  </a:lnTo>
                  <a:lnTo>
                    <a:pt x="103155" y="0"/>
                  </a:lnTo>
                  <a:lnTo>
                    <a:pt x="417290" y="0"/>
                  </a:lnTo>
                  <a:lnTo>
                    <a:pt x="417290" y="9525"/>
                  </a:lnTo>
                  <a:lnTo>
                    <a:pt x="103155" y="9525"/>
                  </a:lnTo>
                  <a:lnTo>
                    <a:pt x="103155" y="19050"/>
                  </a:lnTo>
                  <a:lnTo>
                    <a:pt x="70404" y="25655"/>
                  </a:lnTo>
                  <a:lnTo>
                    <a:pt x="43672" y="43672"/>
                  </a:lnTo>
                  <a:lnTo>
                    <a:pt x="25655" y="70404"/>
                  </a:lnTo>
                  <a:lnTo>
                    <a:pt x="19050" y="103155"/>
                  </a:lnTo>
                  <a:lnTo>
                    <a:pt x="19050" y="417290"/>
                  </a:lnTo>
                  <a:lnTo>
                    <a:pt x="25655" y="450041"/>
                  </a:lnTo>
                  <a:lnTo>
                    <a:pt x="43672" y="476773"/>
                  </a:lnTo>
                  <a:lnTo>
                    <a:pt x="70404" y="494791"/>
                  </a:lnTo>
                  <a:lnTo>
                    <a:pt x="103155" y="501396"/>
                  </a:lnTo>
                  <a:lnTo>
                    <a:pt x="473665" y="501396"/>
                  </a:lnTo>
                  <a:lnTo>
                    <a:pt x="459539" y="510921"/>
                  </a:lnTo>
                  <a:lnTo>
                    <a:pt x="103155" y="510921"/>
                  </a:lnTo>
                  <a:lnTo>
                    <a:pt x="103155" y="520446"/>
                  </a:lnTo>
                  <a:close/>
                </a:path>
                <a:path w="520700" h="520700">
                  <a:moveTo>
                    <a:pt x="473665" y="501396"/>
                  </a:moveTo>
                  <a:lnTo>
                    <a:pt x="417290" y="501396"/>
                  </a:lnTo>
                  <a:lnTo>
                    <a:pt x="450041" y="494791"/>
                  </a:lnTo>
                  <a:lnTo>
                    <a:pt x="476773" y="476773"/>
                  </a:lnTo>
                  <a:lnTo>
                    <a:pt x="494791" y="450041"/>
                  </a:lnTo>
                  <a:lnTo>
                    <a:pt x="501396" y="417290"/>
                  </a:lnTo>
                  <a:lnTo>
                    <a:pt x="501396" y="103155"/>
                  </a:lnTo>
                  <a:lnTo>
                    <a:pt x="494791" y="70404"/>
                  </a:lnTo>
                  <a:lnTo>
                    <a:pt x="476773" y="43672"/>
                  </a:lnTo>
                  <a:lnTo>
                    <a:pt x="450041" y="25655"/>
                  </a:lnTo>
                  <a:lnTo>
                    <a:pt x="417290" y="19050"/>
                  </a:lnTo>
                  <a:lnTo>
                    <a:pt x="103155" y="19050"/>
                  </a:lnTo>
                  <a:lnTo>
                    <a:pt x="103155" y="9525"/>
                  </a:lnTo>
                  <a:lnTo>
                    <a:pt x="417290" y="9525"/>
                  </a:lnTo>
                  <a:lnTo>
                    <a:pt x="417290" y="0"/>
                  </a:lnTo>
                  <a:lnTo>
                    <a:pt x="457438" y="8108"/>
                  </a:lnTo>
                  <a:lnTo>
                    <a:pt x="490227" y="30218"/>
                  </a:lnTo>
                  <a:lnTo>
                    <a:pt x="512337" y="63007"/>
                  </a:lnTo>
                  <a:lnTo>
                    <a:pt x="520452" y="103155"/>
                  </a:lnTo>
                  <a:lnTo>
                    <a:pt x="520452" y="417290"/>
                  </a:lnTo>
                  <a:lnTo>
                    <a:pt x="512337" y="457438"/>
                  </a:lnTo>
                  <a:lnTo>
                    <a:pt x="490227" y="490228"/>
                  </a:lnTo>
                  <a:lnTo>
                    <a:pt x="473665" y="501396"/>
                  </a:lnTo>
                  <a:close/>
                </a:path>
                <a:path w="520700" h="520700">
                  <a:moveTo>
                    <a:pt x="417290" y="520446"/>
                  </a:moveTo>
                  <a:lnTo>
                    <a:pt x="103155" y="520446"/>
                  </a:lnTo>
                  <a:lnTo>
                    <a:pt x="103155" y="510921"/>
                  </a:lnTo>
                  <a:lnTo>
                    <a:pt x="417290" y="510921"/>
                  </a:lnTo>
                  <a:lnTo>
                    <a:pt x="417290" y="520446"/>
                  </a:lnTo>
                  <a:close/>
                </a:path>
                <a:path w="520700" h="520700">
                  <a:moveTo>
                    <a:pt x="417290" y="520446"/>
                  </a:moveTo>
                  <a:lnTo>
                    <a:pt x="417290" y="510921"/>
                  </a:lnTo>
                  <a:lnTo>
                    <a:pt x="459539" y="510921"/>
                  </a:lnTo>
                  <a:lnTo>
                    <a:pt x="457438" y="512337"/>
                  </a:lnTo>
                  <a:lnTo>
                    <a:pt x="417290" y="520446"/>
                  </a:lnTo>
                  <a:close/>
                </a:path>
              </a:pathLst>
            </a:custGeom>
            <a:solidFill>
              <a:srgbClr val="0029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491506" y="3638631"/>
            <a:ext cx="561975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Modular</a:t>
            </a:r>
            <a:r>
              <a:rPr sz="1750" spc="-4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spc="-20" dirty="0">
                <a:solidFill>
                  <a:srgbClr val="EBECF0"/>
                </a:solidFill>
                <a:latin typeface="Microsoft Sans Serif"/>
                <a:cs typeface="Microsoft Sans Serif"/>
              </a:rPr>
              <a:t>multi-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file</a:t>
            </a:r>
            <a:r>
              <a:rPr sz="1750" spc="-3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C</a:t>
            </a:r>
            <a:r>
              <a:rPr sz="1750" spc="-3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design</a:t>
            </a:r>
            <a:r>
              <a:rPr sz="1750" spc="-3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(main.c,</a:t>
            </a:r>
            <a:r>
              <a:rPr sz="1750" spc="-3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particle.c,</a:t>
            </a:r>
            <a:r>
              <a:rPr sz="1750" spc="-4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particle.h).</a:t>
            </a:r>
            <a:endParaRPr sz="175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273627" y="3558182"/>
            <a:ext cx="520700" cy="520700"/>
            <a:chOff x="9273627" y="3558182"/>
            <a:chExt cx="520700" cy="520700"/>
          </a:xfrm>
        </p:grpSpPr>
        <p:sp>
          <p:nvSpPr>
            <p:cNvPr id="16" name="object 16"/>
            <p:cNvSpPr/>
            <p:nvPr/>
          </p:nvSpPr>
          <p:spPr>
            <a:xfrm>
              <a:off x="9283153" y="3567707"/>
              <a:ext cx="501650" cy="501650"/>
            </a:xfrm>
            <a:custGeom>
              <a:avLst/>
              <a:gdLst/>
              <a:ahLst/>
              <a:cxnLst/>
              <a:rect l="l" t="t" r="r" b="b"/>
              <a:pathLst>
                <a:path w="501650" h="501650">
                  <a:moveTo>
                    <a:pt x="407765" y="501395"/>
                  </a:moveTo>
                  <a:lnTo>
                    <a:pt x="93630" y="501395"/>
                  </a:lnTo>
                  <a:lnTo>
                    <a:pt x="57181" y="494039"/>
                  </a:lnTo>
                  <a:lnTo>
                    <a:pt x="27420" y="473975"/>
                  </a:lnTo>
                  <a:lnTo>
                    <a:pt x="7356" y="444214"/>
                  </a:lnTo>
                  <a:lnTo>
                    <a:pt x="0" y="407765"/>
                  </a:lnTo>
                  <a:lnTo>
                    <a:pt x="0" y="93630"/>
                  </a:lnTo>
                  <a:lnTo>
                    <a:pt x="7356" y="57181"/>
                  </a:lnTo>
                  <a:lnTo>
                    <a:pt x="27420" y="27420"/>
                  </a:lnTo>
                  <a:lnTo>
                    <a:pt x="57181" y="7356"/>
                  </a:lnTo>
                  <a:lnTo>
                    <a:pt x="93630" y="0"/>
                  </a:lnTo>
                  <a:lnTo>
                    <a:pt x="407765" y="0"/>
                  </a:lnTo>
                  <a:lnTo>
                    <a:pt x="444214" y="7356"/>
                  </a:lnTo>
                  <a:lnTo>
                    <a:pt x="473975" y="27420"/>
                  </a:lnTo>
                  <a:lnTo>
                    <a:pt x="494039" y="57181"/>
                  </a:lnTo>
                  <a:lnTo>
                    <a:pt x="501395" y="93630"/>
                  </a:lnTo>
                  <a:lnTo>
                    <a:pt x="501395" y="407765"/>
                  </a:lnTo>
                  <a:lnTo>
                    <a:pt x="494039" y="444214"/>
                  </a:lnTo>
                  <a:lnTo>
                    <a:pt x="473975" y="473975"/>
                  </a:lnTo>
                  <a:lnTo>
                    <a:pt x="444214" y="494039"/>
                  </a:lnTo>
                  <a:lnTo>
                    <a:pt x="407765" y="501395"/>
                  </a:lnTo>
                  <a:close/>
                </a:path>
              </a:pathLst>
            </a:custGeom>
            <a:solidFill>
              <a:srgbClr val="0F16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273627" y="3558182"/>
              <a:ext cx="520700" cy="520700"/>
            </a:xfrm>
            <a:custGeom>
              <a:avLst/>
              <a:gdLst/>
              <a:ahLst/>
              <a:cxnLst/>
              <a:rect l="l" t="t" r="r" b="b"/>
              <a:pathLst>
                <a:path w="520700" h="520700">
                  <a:moveTo>
                    <a:pt x="103155" y="520446"/>
                  </a:moveTo>
                  <a:lnTo>
                    <a:pt x="63008" y="512337"/>
                  </a:lnTo>
                  <a:lnTo>
                    <a:pt x="30218" y="490228"/>
                  </a:lnTo>
                  <a:lnTo>
                    <a:pt x="8108" y="457438"/>
                  </a:lnTo>
                  <a:lnTo>
                    <a:pt x="0" y="417290"/>
                  </a:lnTo>
                  <a:lnTo>
                    <a:pt x="0" y="103155"/>
                  </a:lnTo>
                  <a:lnTo>
                    <a:pt x="8108" y="63007"/>
                  </a:lnTo>
                  <a:lnTo>
                    <a:pt x="30218" y="30218"/>
                  </a:lnTo>
                  <a:lnTo>
                    <a:pt x="63008" y="8108"/>
                  </a:lnTo>
                  <a:lnTo>
                    <a:pt x="103155" y="0"/>
                  </a:lnTo>
                  <a:lnTo>
                    <a:pt x="417290" y="0"/>
                  </a:lnTo>
                  <a:lnTo>
                    <a:pt x="417290" y="9525"/>
                  </a:lnTo>
                  <a:lnTo>
                    <a:pt x="103155" y="9525"/>
                  </a:lnTo>
                  <a:lnTo>
                    <a:pt x="103155" y="19050"/>
                  </a:lnTo>
                  <a:lnTo>
                    <a:pt x="70404" y="25655"/>
                  </a:lnTo>
                  <a:lnTo>
                    <a:pt x="43672" y="43672"/>
                  </a:lnTo>
                  <a:lnTo>
                    <a:pt x="25655" y="70404"/>
                  </a:lnTo>
                  <a:lnTo>
                    <a:pt x="19050" y="103155"/>
                  </a:lnTo>
                  <a:lnTo>
                    <a:pt x="19050" y="417290"/>
                  </a:lnTo>
                  <a:lnTo>
                    <a:pt x="25655" y="450041"/>
                  </a:lnTo>
                  <a:lnTo>
                    <a:pt x="43672" y="476773"/>
                  </a:lnTo>
                  <a:lnTo>
                    <a:pt x="70404" y="494791"/>
                  </a:lnTo>
                  <a:lnTo>
                    <a:pt x="103155" y="501396"/>
                  </a:lnTo>
                  <a:lnTo>
                    <a:pt x="473665" y="501396"/>
                  </a:lnTo>
                  <a:lnTo>
                    <a:pt x="459539" y="510921"/>
                  </a:lnTo>
                  <a:lnTo>
                    <a:pt x="103155" y="510921"/>
                  </a:lnTo>
                  <a:lnTo>
                    <a:pt x="103155" y="520446"/>
                  </a:lnTo>
                  <a:close/>
                </a:path>
                <a:path w="520700" h="520700">
                  <a:moveTo>
                    <a:pt x="473665" y="501396"/>
                  </a:moveTo>
                  <a:lnTo>
                    <a:pt x="417290" y="501396"/>
                  </a:lnTo>
                  <a:lnTo>
                    <a:pt x="450041" y="494791"/>
                  </a:lnTo>
                  <a:lnTo>
                    <a:pt x="476774" y="476773"/>
                  </a:lnTo>
                  <a:lnTo>
                    <a:pt x="494791" y="450041"/>
                  </a:lnTo>
                  <a:lnTo>
                    <a:pt x="501396" y="417290"/>
                  </a:lnTo>
                  <a:lnTo>
                    <a:pt x="501396" y="103155"/>
                  </a:lnTo>
                  <a:lnTo>
                    <a:pt x="494791" y="70404"/>
                  </a:lnTo>
                  <a:lnTo>
                    <a:pt x="476774" y="43672"/>
                  </a:lnTo>
                  <a:lnTo>
                    <a:pt x="450041" y="25655"/>
                  </a:lnTo>
                  <a:lnTo>
                    <a:pt x="417290" y="19050"/>
                  </a:lnTo>
                  <a:lnTo>
                    <a:pt x="103155" y="19050"/>
                  </a:lnTo>
                  <a:lnTo>
                    <a:pt x="103155" y="9525"/>
                  </a:lnTo>
                  <a:lnTo>
                    <a:pt x="417290" y="9525"/>
                  </a:lnTo>
                  <a:lnTo>
                    <a:pt x="417290" y="0"/>
                  </a:lnTo>
                  <a:lnTo>
                    <a:pt x="457438" y="8108"/>
                  </a:lnTo>
                  <a:lnTo>
                    <a:pt x="490228" y="30218"/>
                  </a:lnTo>
                  <a:lnTo>
                    <a:pt x="512338" y="63007"/>
                  </a:lnTo>
                  <a:lnTo>
                    <a:pt x="520452" y="103155"/>
                  </a:lnTo>
                  <a:lnTo>
                    <a:pt x="520452" y="417290"/>
                  </a:lnTo>
                  <a:lnTo>
                    <a:pt x="512338" y="457438"/>
                  </a:lnTo>
                  <a:lnTo>
                    <a:pt x="490228" y="490228"/>
                  </a:lnTo>
                  <a:lnTo>
                    <a:pt x="473665" y="501396"/>
                  </a:lnTo>
                  <a:close/>
                </a:path>
                <a:path w="520700" h="520700">
                  <a:moveTo>
                    <a:pt x="417290" y="520446"/>
                  </a:moveTo>
                  <a:lnTo>
                    <a:pt x="103155" y="520446"/>
                  </a:lnTo>
                  <a:lnTo>
                    <a:pt x="103155" y="510921"/>
                  </a:lnTo>
                  <a:lnTo>
                    <a:pt x="417290" y="510921"/>
                  </a:lnTo>
                  <a:lnTo>
                    <a:pt x="417290" y="520446"/>
                  </a:lnTo>
                  <a:close/>
                </a:path>
                <a:path w="520700" h="520700">
                  <a:moveTo>
                    <a:pt x="417290" y="520446"/>
                  </a:moveTo>
                  <a:lnTo>
                    <a:pt x="417290" y="510921"/>
                  </a:lnTo>
                  <a:lnTo>
                    <a:pt x="459539" y="510921"/>
                  </a:lnTo>
                  <a:lnTo>
                    <a:pt x="457438" y="512337"/>
                  </a:lnTo>
                  <a:lnTo>
                    <a:pt x="417290" y="520446"/>
                  </a:lnTo>
                  <a:close/>
                </a:path>
              </a:pathLst>
            </a:custGeom>
            <a:solidFill>
              <a:srgbClr val="0029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994651" y="3638631"/>
            <a:ext cx="674497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Ensured</a:t>
            </a:r>
            <a:r>
              <a:rPr sz="1750" spc="-3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no</a:t>
            </a:r>
            <a:r>
              <a:rPr sz="1750" spc="-3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memory</a:t>
            </a:r>
            <a:r>
              <a:rPr sz="1750" spc="-3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leaks</a:t>
            </a:r>
            <a:r>
              <a:rPr sz="1750" spc="-3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and</a:t>
            </a:r>
            <a:r>
              <a:rPr sz="1750" spc="-3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adherence</a:t>
            </a:r>
            <a:r>
              <a:rPr sz="1750" spc="-3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to</a:t>
            </a:r>
            <a:r>
              <a:rPr sz="1750" spc="-3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PES</a:t>
            </a:r>
            <a:r>
              <a:rPr sz="1750" spc="-3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coding</a:t>
            </a:r>
            <a:r>
              <a:rPr sz="1750" spc="-3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guidelines.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7308" y="4361372"/>
            <a:ext cx="367982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dirty="0">
                <a:solidFill>
                  <a:srgbClr val="C493DA"/>
                </a:solidFill>
                <a:latin typeface="Arial"/>
                <a:cs typeface="Arial"/>
              </a:rPr>
              <a:t>Division</a:t>
            </a:r>
            <a:r>
              <a:rPr sz="3500" b="1" spc="-60" dirty="0">
                <a:solidFill>
                  <a:srgbClr val="C493DA"/>
                </a:solidFill>
                <a:latin typeface="Arial"/>
                <a:cs typeface="Arial"/>
              </a:rPr>
              <a:t> </a:t>
            </a:r>
            <a:r>
              <a:rPr sz="3500" b="1" dirty="0">
                <a:solidFill>
                  <a:srgbClr val="C493DA"/>
                </a:solidFill>
                <a:latin typeface="Arial"/>
                <a:cs typeface="Arial"/>
              </a:rPr>
              <a:t>of</a:t>
            </a:r>
            <a:r>
              <a:rPr sz="3500" b="1" spc="-60" dirty="0">
                <a:solidFill>
                  <a:srgbClr val="C493DA"/>
                </a:solidFill>
                <a:latin typeface="Arial"/>
                <a:cs typeface="Arial"/>
              </a:rPr>
              <a:t> </a:t>
            </a:r>
            <a:r>
              <a:rPr sz="3500" b="1" spc="-10" dirty="0">
                <a:solidFill>
                  <a:srgbClr val="C493DA"/>
                </a:solidFill>
                <a:latin typeface="Arial"/>
                <a:cs typeface="Arial"/>
              </a:rPr>
              <a:t>Work:</a:t>
            </a:r>
            <a:endParaRPr sz="35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75246" y="5312270"/>
            <a:ext cx="16737965" cy="2333625"/>
            <a:chOff x="775246" y="5312270"/>
            <a:chExt cx="16737965" cy="2333625"/>
          </a:xfrm>
        </p:grpSpPr>
        <p:sp>
          <p:nvSpPr>
            <p:cNvPr id="21" name="object 21"/>
            <p:cNvSpPr/>
            <p:nvPr/>
          </p:nvSpPr>
          <p:spPr>
            <a:xfrm>
              <a:off x="775246" y="5312270"/>
              <a:ext cx="16737965" cy="2333625"/>
            </a:xfrm>
            <a:custGeom>
              <a:avLst/>
              <a:gdLst/>
              <a:ahLst/>
              <a:cxnLst/>
              <a:rect l="l" t="t" r="r" b="b"/>
              <a:pathLst>
                <a:path w="16737965" h="2333625">
                  <a:moveTo>
                    <a:pt x="98679" y="2333029"/>
                  </a:moveTo>
                  <a:lnTo>
                    <a:pt x="60275" y="2325327"/>
                  </a:lnTo>
                  <a:lnTo>
                    <a:pt x="28908" y="2304252"/>
                  </a:lnTo>
                  <a:lnTo>
                    <a:pt x="7756" y="2272979"/>
                  </a:lnTo>
                  <a:lnTo>
                    <a:pt x="0" y="2234660"/>
                  </a:lnTo>
                  <a:lnTo>
                    <a:pt x="0" y="98393"/>
                  </a:lnTo>
                  <a:lnTo>
                    <a:pt x="7756" y="60074"/>
                  </a:lnTo>
                  <a:lnTo>
                    <a:pt x="60275" y="7725"/>
                  </a:lnTo>
                  <a:lnTo>
                    <a:pt x="98679" y="0"/>
                  </a:lnTo>
                  <a:lnTo>
                    <a:pt x="16638840" y="0"/>
                  </a:lnTo>
                  <a:lnTo>
                    <a:pt x="16638840" y="4762"/>
                  </a:lnTo>
                  <a:lnTo>
                    <a:pt x="98679" y="4762"/>
                  </a:lnTo>
                  <a:lnTo>
                    <a:pt x="98679" y="9525"/>
                  </a:lnTo>
                  <a:lnTo>
                    <a:pt x="35635" y="35564"/>
                  </a:lnTo>
                  <a:lnTo>
                    <a:pt x="9525" y="98393"/>
                  </a:lnTo>
                  <a:lnTo>
                    <a:pt x="9525" y="2234660"/>
                  </a:lnTo>
                  <a:lnTo>
                    <a:pt x="16530" y="2269240"/>
                  </a:lnTo>
                  <a:lnTo>
                    <a:pt x="35635" y="2297489"/>
                  </a:lnTo>
                  <a:lnTo>
                    <a:pt x="63973" y="2316541"/>
                  </a:lnTo>
                  <a:lnTo>
                    <a:pt x="98679" y="2323528"/>
                  </a:lnTo>
                  <a:lnTo>
                    <a:pt x="16679922" y="2323528"/>
                  </a:lnTo>
                  <a:lnTo>
                    <a:pt x="16677244" y="2325327"/>
                  </a:lnTo>
                  <a:lnTo>
                    <a:pt x="16662514" y="2328291"/>
                  </a:lnTo>
                  <a:lnTo>
                    <a:pt x="98679" y="2328291"/>
                  </a:lnTo>
                  <a:lnTo>
                    <a:pt x="98679" y="2333029"/>
                  </a:lnTo>
                  <a:close/>
                </a:path>
                <a:path w="16737965" h="2333625">
                  <a:moveTo>
                    <a:pt x="16679922" y="2323528"/>
                  </a:moveTo>
                  <a:lnTo>
                    <a:pt x="16638840" y="2323528"/>
                  </a:lnTo>
                  <a:lnTo>
                    <a:pt x="16673545" y="2316541"/>
                  </a:lnTo>
                  <a:lnTo>
                    <a:pt x="16701884" y="2297489"/>
                  </a:lnTo>
                  <a:lnTo>
                    <a:pt x="16720989" y="2269240"/>
                  </a:lnTo>
                  <a:lnTo>
                    <a:pt x="16727994" y="2234660"/>
                  </a:lnTo>
                  <a:lnTo>
                    <a:pt x="16727994" y="98393"/>
                  </a:lnTo>
                  <a:lnTo>
                    <a:pt x="16720989" y="63813"/>
                  </a:lnTo>
                  <a:lnTo>
                    <a:pt x="16701884" y="35564"/>
                  </a:lnTo>
                  <a:lnTo>
                    <a:pt x="16673545" y="16512"/>
                  </a:lnTo>
                  <a:lnTo>
                    <a:pt x="16638840" y="9525"/>
                  </a:lnTo>
                  <a:lnTo>
                    <a:pt x="98679" y="9525"/>
                  </a:lnTo>
                  <a:lnTo>
                    <a:pt x="98679" y="4762"/>
                  </a:lnTo>
                  <a:lnTo>
                    <a:pt x="16638840" y="4762"/>
                  </a:lnTo>
                  <a:lnTo>
                    <a:pt x="16638840" y="0"/>
                  </a:lnTo>
                  <a:lnTo>
                    <a:pt x="16677244" y="7725"/>
                  </a:lnTo>
                  <a:lnTo>
                    <a:pt x="16708611" y="28801"/>
                  </a:lnTo>
                  <a:lnTo>
                    <a:pt x="16729762" y="60074"/>
                  </a:lnTo>
                  <a:lnTo>
                    <a:pt x="16737519" y="98393"/>
                  </a:lnTo>
                  <a:lnTo>
                    <a:pt x="16737519" y="2234660"/>
                  </a:lnTo>
                  <a:lnTo>
                    <a:pt x="16729762" y="2272979"/>
                  </a:lnTo>
                  <a:lnTo>
                    <a:pt x="16708611" y="2304252"/>
                  </a:lnTo>
                  <a:lnTo>
                    <a:pt x="16679922" y="2323528"/>
                  </a:lnTo>
                  <a:close/>
                </a:path>
                <a:path w="16737965" h="2333625">
                  <a:moveTo>
                    <a:pt x="16638840" y="2333029"/>
                  </a:moveTo>
                  <a:lnTo>
                    <a:pt x="98679" y="2333029"/>
                  </a:lnTo>
                  <a:lnTo>
                    <a:pt x="98679" y="2328291"/>
                  </a:lnTo>
                  <a:lnTo>
                    <a:pt x="16638840" y="2328291"/>
                  </a:lnTo>
                  <a:lnTo>
                    <a:pt x="16638840" y="2333029"/>
                  </a:lnTo>
                  <a:close/>
                </a:path>
                <a:path w="16737965" h="2333625">
                  <a:moveTo>
                    <a:pt x="16638958" y="2333029"/>
                  </a:moveTo>
                  <a:lnTo>
                    <a:pt x="16638840" y="2328291"/>
                  </a:lnTo>
                  <a:lnTo>
                    <a:pt x="16662514" y="2328291"/>
                  </a:lnTo>
                  <a:lnTo>
                    <a:pt x="16638958" y="2333029"/>
                  </a:lnTo>
                  <a:close/>
                </a:path>
              </a:pathLst>
            </a:custGeom>
            <a:solidFill>
              <a:srgbClr val="FFFFFF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9533" y="5326558"/>
              <a:ext cx="16710025" cy="576580"/>
            </a:xfrm>
            <a:custGeom>
              <a:avLst/>
              <a:gdLst/>
              <a:ahLst/>
              <a:cxnLst/>
              <a:rect l="l" t="t" r="r" b="b"/>
              <a:pathLst>
                <a:path w="16710025" h="576579">
                  <a:moveTo>
                    <a:pt x="16709548" y="576113"/>
                  </a:moveTo>
                  <a:lnTo>
                    <a:pt x="0" y="576113"/>
                  </a:lnTo>
                  <a:lnTo>
                    <a:pt x="0" y="0"/>
                  </a:lnTo>
                  <a:lnTo>
                    <a:pt x="16709548" y="0"/>
                  </a:lnTo>
                  <a:lnTo>
                    <a:pt x="16709548" y="576113"/>
                  </a:lnTo>
                  <a:close/>
                </a:path>
              </a:pathLst>
            </a:custGeom>
            <a:solidFill>
              <a:srgbClr val="FFFFFF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99777" y="5434838"/>
            <a:ext cx="815022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64860" algn="l"/>
              </a:tabLst>
            </a:pPr>
            <a:r>
              <a:rPr sz="1750" b="1" spc="-10" dirty="0">
                <a:solidFill>
                  <a:srgbClr val="EBECF0"/>
                </a:solidFill>
                <a:latin typeface="Arial"/>
                <a:cs typeface="Arial"/>
              </a:rPr>
              <a:t>Member</a:t>
            </a:r>
            <a:r>
              <a:rPr sz="1750" b="1" dirty="0">
                <a:solidFill>
                  <a:srgbClr val="EBECF0"/>
                </a:solidFill>
                <a:latin typeface="Arial"/>
                <a:cs typeface="Arial"/>
              </a:rPr>
              <a:t>	Core</a:t>
            </a:r>
            <a:r>
              <a:rPr sz="1750" b="1" spc="-45" dirty="0">
                <a:solidFill>
                  <a:srgbClr val="EBECF0"/>
                </a:solidFill>
                <a:latin typeface="Arial"/>
                <a:cs typeface="Arial"/>
              </a:rPr>
              <a:t> </a:t>
            </a:r>
            <a:r>
              <a:rPr sz="1750" b="1" spc="-10" dirty="0">
                <a:solidFill>
                  <a:srgbClr val="EBECF0"/>
                </a:solidFill>
                <a:latin typeface="Arial"/>
                <a:cs typeface="Arial"/>
              </a:rPr>
              <a:t>Responsibilities</a:t>
            </a:r>
            <a:endParaRPr sz="17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9533" y="5902671"/>
            <a:ext cx="16710025" cy="391133"/>
          </a:xfrm>
          <a:prstGeom prst="rect">
            <a:avLst/>
          </a:prstGeom>
          <a:solidFill>
            <a:srgbClr val="000000">
              <a:alpha val="3999"/>
            </a:srgbClr>
          </a:solidFill>
        </p:spPr>
        <p:txBody>
          <a:bodyPr vert="horz" wrap="square" lIns="0" tIns="120650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950"/>
              </a:spcBef>
              <a:tabLst>
                <a:tab pos="6075680" algn="l"/>
              </a:tabLst>
            </a:pPr>
            <a:r>
              <a:rPr lang="en-US"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Ganavi Purushothama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	Particle</a:t>
            </a:r>
            <a:r>
              <a:rPr sz="1750" spc="-4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List</a:t>
            </a:r>
            <a:r>
              <a:rPr sz="1750" spc="-3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Management</a:t>
            </a:r>
            <a:r>
              <a:rPr sz="1750" spc="-3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(init,</a:t>
            </a:r>
            <a:r>
              <a:rPr sz="1750" spc="-3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add,</a:t>
            </a:r>
            <a:r>
              <a:rPr sz="1750" spc="-4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remove,</a:t>
            </a:r>
            <a:r>
              <a:rPr sz="1750" spc="-3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cleanup).</a:t>
            </a:r>
            <a:endParaRPr sz="1750" dirty="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89533" y="6478786"/>
            <a:ext cx="16710025" cy="576580"/>
          </a:xfrm>
          <a:custGeom>
            <a:avLst/>
            <a:gdLst/>
            <a:ahLst/>
            <a:cxnLst/>
            <a:rect l="l" t="t" r="r" b="b"/>
            <a:pathLst>
              <a:path w="16710025" h="576579">
                <a:moveTo>
                  <a:pt x="16709548" y="576113"/>
                </a:moveTo>
                <a:lnTo>
                  <a:pt x="0" y="576113"/>
                </a:lnTo>
                <a:lnTo>
                  <a:pt x="0" y="0"/>
                </a:lnTo>
                <a:lnTo>
                  <a:pt x="16709548" y="0"/>
                </a:lnTo>
                <a:lnTo>
                  <a:pt x="16709548" y="576113"/>
                </a:lnTo>
                <a:close/>
              </a:path>
            </a:pathLst>
          </a:custGeom>
          <a:solidFill>
            <a:srgbClr val="FFFFFF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99777" y="6587064"/>
            <a:ext cx="11263630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64860" algn="l"/>
              </a:tabLst>
            </a:pPr>
            <a:r>
              <a:rPr lang="en-US"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Darshan P Pawar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	Particle</a:t>
            </a:r>
            <a:r>
              <a:rPr sz="1750" spc="-6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Dynamics,</a:t>
            </a:r>
            <a:r>
              <a:rPr sz="1750" spc="-5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main</a:t>
            </a:r>
            <a:r>
              <a:rPr sz="1750" spc="-5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logic,</a:t>
            </a:r>
            <a:r>
              <a:rPr sz="1750" spc="-5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input</a:t>
            </a:r>
            <a:r>
              <a:rPr sz="1750" spc="-5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handling,</a:t>
            </a:r>
            <a:r>
              <a:rPr sz="1750" spc="-5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updates.</a:t>
            </a:r>
            <a:endParaRPr sz="1750" dirty="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9533" y="7054900"/>
            <a:ext cx="16710025" cy="576580"/>
          </a:xfrm>
          <a:prstGeom prst="rect">
            <a:avLst/>
          </a:prstGeom>
          <a:solidFill>
            <a:srgbClr val="000000">
              <a:alpha val="3999"/>
            </a:srgbClr>
          </a:solidFill>
        </p:spPr>
        <p:txBody>
          <a:bodyPr vert="horz" wrap="square" lIns="0" tIns="120650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950"/>
              </a:spcBef>
              <a:tabLst>
                <a:tab pos="6075680" algn="l"/>
              </a:tabLst>
            </a:pP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Deepthi</a:t>
            </a:r>
            <a:r>
              <a:rPr sz="1750" spc="-2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N</a:t>
            </a:r>
            <a:r>
              <a:rPr sz="1750" spc="-2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Reddy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	BST</a:t>
            </a:r>
            <a:r>
              <a:rPr sz="1750" spc="-6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rendering,</a:t>
            </a:r>
            <a:r>
              <a:rPr sz="1750" spc="-5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integration,</a:t>
            </a:r>
            <a:r>
              <a:rPr sz="1750" spc="-6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and</a:t>
            </a:r>
            <a:r>
              <a:rPr sz="1750" spc="-5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EBECF0"/>
                </a:solidFill>
                <a:latin typeface="Microsoft Sans Serif"/>
                <a:cs typeface="Microsoft Sans Serif"/>
              </a:rPr>
              <a:t>freeing</a:t>
            </a:r>
            <a:r>
              <a:rPr sz="1750" spc="-6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functions.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7308" y="7845984"/>
            <a:ext cx="1152525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b="1" dirty="0">
                <a:solidFill>
                  <a:srgbClr val="EBECF0"/>
                </a:solidFill>
                <a:latin typeface="Arial"/>
                <a:cs typeface="Arial"/>
              </a:rPr>
              <a:t>Final</a:t>
            </a:r>
            <a:r>
              <a:rPr sz="2150" b="1" spc="35" dirty="0">
                <a:solidFill>
                  <a:srgbClr val="EBECF0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EBECF0"/>
                </a:solidFill>
                <a:latin typeface="Arial"/>
                <a:cs typeface="Arial"/>
              </a:rPr>
              <a:t>Line:</a:t>
            </a:r>
            <a:r>
              <a:rPr sz="2150" b="1" spc="40" dirty="0">
                <a:solidFill>
                  <a:srgbClr val="EBECF0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All</a:t>
            </a:r>
            <a:r>
              <a:rPr sz="2150" spc="7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members</a:t>
            </a:r>
            <a:r>
              <a:rPr sz="2150" spc="7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were</a:t>
            </a:r>
            <a:r>
              <a:rPr sz="2150" spc="7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actively</a:t>
            </a:r>
            <a:r>
              <a:rPr sz="2150" spc="6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involved</a:t>
            </a:r>
            <a:r>
              <a:rPr sz="2150" spc="7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and</a:t>
            </a:r>
            <a:r>
              <a:rPr sz="2150" spc="7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understand</a:t>
            </a:r>
            <a:r>
              <a:rPr sz="2150" spc="7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the</a:t>
            </a:r>
            <a:r>
              <a:rPr sz="2150" spc="65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EBECF0"/>
                </a:solidFill>
                <a:latin typeface="Microsoft Sans Serif"/>
                <a:cs typeface="Microsoft Sans Serif"/>
              </a:rPr>
              <a:t>complete</a:t>
            </a:r>
            <a:r>
              <a:rPr sz="2150" spc="70" dirty="0">
                <a:solidFill>
                  <a:srgbClr val="EBECF0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EBECF0"/>
                </a:solidFill>
                <a:latin typeface="Microsoft Sans Serif"/>
                <a:cs typeface="Microsoft Sans Serif"/>
              </a:rPr>
              <a:t>implementation.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7308" y="8526412"/>
            <a:ext cx="40900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68245" algn="l"/>
              </a:tabLst>
            </a:pPr>
            <a:r>
              <a:rPr sz="6000" b="1" spc="-10" dirty="0">
                <a:solidFill>
                  <a:srgbClr val="F1F5FA"/>
                </a:solidFill>
                <a:latin typeface="Arial"/>
                <a:cs typeface="Arial"/>
              </a:rPr>
              <a:t>Thank</a:t>
            </a:r>
            <a:r>
              <a:rPr sz="6000" b="1" dirty="0">
                <a:solidFill>
                  <a:srgbClr val="F1F5FA"/>
                </a:solidFill>
                <a:latin typeface="Arial"/>
                <a:cs typeface="Arial"/>
              </a:rPr>
              <a:t>	</a:t>
            </a:r>
            <a:r>
              <a:rPr sz="6000" b="1" spc="-20" dirty="0">
                <a:solidFill>
                  <a:srgbClr val="F1F5FA"/>
                </a:solidFill>
                <a:latin typeface="Arial"/>
                <a:cs typeface="Arial"/>
              </a:rPr>
              <a:t>you!</a:t>
            </a:r>
            <a:endParaRPr sz="6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712</Words>
  <Application>Microsoft Office PowerPoint</Application>
  <PresentationFormat>Custom</PresentationFormat>
  <Paragraphs>86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Consolas</vt:lpstr>
      <vt:lpstr>Microsoft Sans Serif</vt:lpstr>
      <vt:lpstr>Times New Roman</vt:lpstr>
      <vt:lpstr>Webdings</vt:lpstr>
      <vt:lpstr>Office Theme</vt:lpstr>
      <vt:lpstr>Particle System Simulation Mini-Project: The Jackfruit Problem</vt:lpstr>
      <vt:lpstr>Data Structures Used and Rationale 📊</vt:lpstr>
      <vt:lpstr>Abstract Data Type (ADT) – Doubly Linked List 🔗</vt:lpstr>
      <vt:lpstr>Abstract Data Type (ADT) – Binary Search Tree (BST) 🌲</vt:lpstr>
      <vt:lpstr>Input and Output Screenshots 🖥</vt:lpstr>
      <vt:lpstr>Concluding Remarks and Work Division 🤝 Concluding Remarks: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Particle-System-Simulation-Mini-Project-The-Jackfruit-Problem (1).pptx</dc:title>
  <dc:creator>Darshan Pawar</dc:creator>
  <cp:keywords>DAG3zYS9FKQ,BAF3gMiLNH4,0</cp:keywords>
  <cp:lastModifiedBy>Deepthi N Reddy</cp:lastModifiedBy>
  <cp:revision>1</cp:revision>
  <dcterms:created xsi:type="dcterms:W3CDTF">2025-11-13T07:53:53Z</dcterms:created>
  <dcterms:modified xsi:type="dcterms:W3CDTF">2025-11-13T07:57:08Z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2025-11-05T00:00:00Z</vt:filetime>
  </property>
  <property fmtid="{D5CDD505-2E9C-101B-9397-08002B2CF9AE}" pid="3" name="Creator">
    <vt:lpwstr>Canva</vt:lpwstr>
  </property>
  <property fmtid="{D5CDD505-2E9C-101B-9397-08002B2CF9AE}" pid="4" name="LastSaved">
    <vt:filetime>2025-11-13T00:00:00Z</vt:filetime>
  </property>
  <property fmtid="{D5CDD505-2E9C-101B-9397-08002B2CF9AE}" pid="5" name="Producer">
    <vt:lpwstr>Canva</vt:lpwstr>
  </property>
</Properties>
</file>